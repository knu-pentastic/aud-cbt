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3" r:id="rId3"/>
    <p:sldId id="258" r:id="rId4"/>
    <p:sldId id="259" r:id="rId5"/>
    <p:sldId id="262" r:id="rId6"/>
    <p:sldId id="276" r:id="rId7"/>
    <p:sldId id="260" r:id="rId8"/>
    <p:sldId id="274" r:id="rId9"/>
    <p:sldId id="264" r:id="rId10"/>
    <p:sldId id="306" r:id="rId11"/>
    <p:sldId id="307" r:id="rId12"/>
    <p:sldId id="314" r:id="rId13"/>
    <p:sldId id="299" r:id="rId14"/>
    <p:sldId id="315" r:id="rId15"/>
    <p:sldId id="313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2A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7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2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다민 유" userId="a4c2f0f7f4b2943b" providerId="LiveId" clId="{C1ACB752-547B-4403-8B78-D950FD20A7B2}"/>
    <pc:docChg chg="undo custSel delSld modSld">
      <pc:chgData name="다민 유" userId="a4c2f0f7f4b2943b" providerId="LiveId" clId="{C1ACB752-547B-4403-8B78-D950FD20A7B2}" dt="2026-07-07T02:14:47.838" v="122" actId="1076"/>
      <pc:docMkLst>
        <pc:docMk/>
      </pc:docMkLst>
      <pc:sldChg chg="addSp delSp modSp mod">
        <pc:chgData name="다민 유" userId="a4c2f0f7f4b2943b" providerId="LiveId" clId="{C1ACB752-547B-4403-8B78-D950FD20A7B2}" dt="2026-07-07T02:14:47.838" v="122" actId="1076"/>
        <pc:sldMkLst>
          <pc:docMk/>
          <pc:sldMk cId="0" sldId="272"/>
        </pc:sldMkLst>
        <pc:spChg chg="add mod">
          <ac:chgData name="다민 유" userId="a4c2f0f7f4b2943b" providerId="LiveId" clId="{C1ACB752-547B-4403-8B78-D950FD20A7B2}" dt="2026-06-29T10:58:05.374" v="107" actId="1038"/>
          <ac:spMkLst>
            <pc:docMk/>
            <pc:sldMk cId="0" sldId="272"/>
            <ac:spMk id="12" creationId="{13F465AE-5DCA-793C-62D2-5EE1E72AED96}"/>
          </ac:spMkLst>
        </pc:spChg>
        <pc:spChg chg="add mod">
          <ac:chgData name="다민 유" userId="a4c2f0f7f4b2943b" providerId="LiveId" clId="{C1ACB752-547B-4403-8B78-D950FD20A7B2}" dt="2026-06-29T11:02:15.558" v="110" actId="207"/>
          <ac:spMkLst>
            <pc:docMk/>
            <pc:sldMk cId="0" sldId="272"/>
            <ac:spMk id="13" creationId="{BB7E397C-0CB6-8015-CBA1-534486DDCDA3}"/>
          </ac:spMkLst>
        </pc:spChg>
        <pc:spChg chg="mod">
          <ac:chgData name="다민 유" userId="a4c2f0f7f4b2943b" providerId="LiveId" clId="{C1ACB752-547B-4403-8B78-D950FD20A7B2}" dt="2026-06-29T10:57:51.656" v="103" actId="1076"/>
          <ac:spMkLst>
            <pc:docMk/>
            <pc:sldMk cId="0" sldId="272"/>
            <ac:spMk id="19" creationId="{01E0CC16-C94B-7BA0-E69A-5505A725698E}"/>
          </ac:spMkLst>
        </pc:spChg>
        <pc:picChg chg="add mod">
          <ac:chgData name="다민 유" userId="a4c2f0f7f4b2943b" providerId="LiveId" clId="{C1ACB752-547B-4403-8B78-D950FD20A7B2}" dt="2026-07-07T02:14:47.838" v="122" actId="1076"/>
          <ac:picMkLst>
            <pc:docMk/>
            <pc:sldMk cId="0" sldId="272"/>
            <ac:picMk id="20" creationId="{587136B7-375C-5CA9-DB40-AF12E38F3231}"/>
          </ac:picMkLst>
        </pc:picChg>
      </pc:sldChg>
      <pc:sldChg chg="modSp mod">
        <pc:chgData name="다민 유" userId="a4c2f0f7f4b2943b" providerId="LiveId" clId="{C1ACB752-547B-4403-8B78-D950FD20A7B2}" dt="2026-06-29T10:51:29.381" v="0" actId="1076"/>
        <pc:sldMkLst>
          <pc:docMk/>
          <pc:sldMk cId="1284075953" sldId="273"/>
        </pc:sldMkLst>
        <pc:spChg chg="mod">
          <ac:chgData name="다민 유" userId="a4c2f0f7f4b2943b" providerId="LiveId" clId="{C1ACB752-547B-4403-8B78-D950FD20A7B2}" dt="2026-06-29T10:51:29.381" v="0" actId="1076"/>
          <ac:spMkLst>
            <pc:docMk/>
            <pc:sldMk cId="1284075953" sldId="273"/>
            <ac:spMk id="10" creationId="{00000000-0000-0000-0000-000000000000}"/>
          </ac:spMkLst>
        </pc:spChg>
      </pc:sldChg>
      <pc:sldChg chg="modSp mod">
        <pc:chgData name="다민 유" userId="a4c2f0f7f4b2943b" providerId="LiveId" clId="{C1ACB752-547B-4403-8B78-D950FD20A7B2}" dt="2026-07-07T01:40:48.059" v="118" actId="20577"/>
        <pc:sldMkLst>
          <pc:docMk/>
          <pc:sldMk cId="418170628" sldId="299"/>
        </pc:sldMkLst>
        <pc:spChg chg="mod">
          <ac:chgData name="다민 유" userId="a4c2f0f7f4b2943b" providerId="LiveId" clId="{C1ACB752-547B-4403-8B78-D950FD20A7B2}" dt="2026-07-07T01:40:48.059" v="118" actId="20577"/>
          <ac:spMkLst>
            <pc:docMk/>
            <pc:sldMk cId="418170628" sldId="299"/>
            <ac:spMk id="120" creationId="{00000000-0000-0000-0000-000000000000}"/>
          </ac:spMkLst>
        </pc:spChg>
      </pc:sldChg>
      <pc:sldChg chg="delSp modSp mod">
        <pc:chgData name="다민 유" userId="a4c2f0f7f4b2943b" providerId="LiveId" clId="{C1ACB752-547B-4403-8B78-D950FD20A7B2}" dt="2026-06-29T11:08:09.876" v="116" actId="1076"/>
        <pc:sldMkLst>
          <pc:docMk/>
          <pc:sldMk cId="2298907601" sldId="306"/>
        </pc:sldMkLst>
        <pc:spChg chg="mod">
          <ac:chgData name="다민 유" userId="a4c2f0f7f4b2943b" providerId="LiveId" clId="{C1ACB752-547B-4403-8B78-D950FD20A7B2}" dt="2026-06-29T11:07:45.265" v="114" actId="1076"/>
          <ac:spMkLst>
            <pc:docMk/>
            <pc:sldMk cId="2298907601" sldId="306"/>
            <ac:spMk id="4" creationId="{00000000-0000-0000-0000-000000000000}"/>
          </ac:spMkLst>
        </pc:spChg>
        <pc:spChg chg="mod">
          <ac:chgData name="다민 유" userId="a4c2f0f7f4b2943b" providerId="LiveId" clId="{C1ACB752-547B-4403-8B78-D950FD20A7B2}" dt="2026-06-29T11:08:09.876" v="116" actId="1076"/>
          <ac:spMkLst>
            <pc:docMk/>
            <pc:sldMk cId="2298907601" sldId="306"/>
            <ac:spMk id="7" creationId="{00000000-0000-0000-0000-000000000000}"/>
          </ac:spMkLst>
        </pc:spChg>
        <pc:spChg chg="mod">
          <ac:chgData name="다민 유" userId="a4c2f0f7f4b2943b" providerId="LiveId" clId="{C1ACB752-547B-4403-8B78-D950FD20A7B2}" dt="2026-06-29T11:08:09.876" v="116" actId="1076"/>
          <ac:spMkLst>
            <pc:docMk/>
            <pc:sldMk cId="2298907601" sldId="306"/>
            <ac:spMk id="8" creationId="{00000000-0000-0000-0000-000000000000}"/>
          </ac:spMkLst>
        </pc:spChg>
        <pc:spChg chg="mod">
          <ac:chgData name="다민 유" userId="a4c2f0f7f4b2943b" providerId="LiveId" clId="{C1ACB752-547B-4403-8B78-D950FD20A7B2}" dt="2026-06-29T11:08:09.876" v="116" actId="1076"/>
          <ac:spMkLst>
            <pc:docMk/>
            <pc:sldMk cId="2298907601" sldId="306"/>
            <ac:spMk id="9" creationId="{00000000-0000-0000-0000-000000000000}"/>
          </ac:spMkLst>
        </pc:spChg>
        <pc:spChg chg="mod">
          <ac:chgData name="다민 유" userId="a4c2f0f7f4b2943b" providerId="LiveId" clId="{C1ACB752-547B-4403-8B78-D950FD20A7B2}" dt="2026-06-29T11:08:09.876" v="116" actId="1076"/>
          <ac:spMkLst>
            <pc:docMk/>
            <pc:sldMk cId="2298907601" sldId="306"/>
            <ac:spMk id="13" creationId="{00000000-0000-0000-0000-000000000000}"/>
          </ac:spMkLst>
        </pc:spChg>
        <pc:spChg chg="mod">
          <ac:chgData name="다민 유" userId="a4c2f0f7f4b2943b" providerId="LiveId" clId="{C1ACB752-547B-4403-8B78-D950FD20A7B2}" dt="2026-06-29T11:08:09.876" v="116" actId="1076"/>
          <ac:spMkLst>
            <pc:docMk/>
            <pc:sldMk cId="2298907601" sldId="306"/>
            <ac:spMk id="14" creationId="{00000000-0000-0000-0000-000000000000}"/>
          </ac:spMkLst>
        </pc:spChg>
        <pc:spChg chg="mod">
          <ac:chgData name="다민 유" userId="a4c2f0f7f4b2943b" providerId="LiveId" clId="{C1ACB752-547B-4403-8B78-D950FD20A7B2}" dt="2026-06-29T11:08:09.876" v="116" actId="1076"/>
          <ac:spMkLst>
            <pc:docMk/>
            <pc:sldMk cId="2298907601" sldId="306"/>
            <ac:spMk id="15" creationId="{00000000-0000-0000-0000-000000000000}"/>
          </ac:spMkLst>
        </pc:spChg>
        <pc:spChg chg="mod">
          <ac:chgData name="다민 유" userId="a4c2f0f7f4b2943b" providerId="LiveId" clId="{C1ACB752-547B-4403-8B78-D950FD20A7B2}" dt="2026-06-29T11:08:09.876" v="116" actId="1076"/>
          <ac:spMkLst>
            <pc:docMk/>
            <pc:sldMk cId="2298907601" sldId="306"/>
            <ac:spMk id="16" creationId="{00000000-0000-0000-0000-000000000000}"/>
          </ac:spMkLst>
        </pc:spChg>
        <pc:spChg chg="mod">
          <ac:chgData name="다민 유" userId="a4c2f0f7f4b2943b" providerId="LiveId" clId="{C1ACB752-547B-4403-8B78-D950FD20A7B2}" dt="2026-06-29T11:08:09.876" v="116" actId="1076"/>
          <ac:spMkLst>
            <pc:docMk/>
            <pc:sldMk cId="2298907601" sldId="306"/>
            <ac:spMk id="17" creationId="{00000000-0000-0000-0000-000000000000}"/>
          </ac:spMkLst>
        </pc:spChg>
        <pc:spChg chg="mod">
          <ac:chgData name="다민 유" userId="a4c2f0f7f4b2943b" providerId="LiveId" clId="{C1ACB752-547B-4403-8B78-D950FD20A7B2}" dt="2026-06-29T11:08:09.876" v="116" actId="1076"/>
          <ac:spMkLst>
            <pc:docMk/>
            <pc:sldMk cId="2298907601" sldId="306"/>
            <ac:spMk id="18" creationId="{00000000-0000-0000-0000-000000000000}"/>
          </ac:spMkLst>
        </pc:spChg>
      </pc:sldChg>
      <pc:sldChg chg="modSp mod">
        <pc:chgData name="다민 유" userId="a4c2f0f7f4b2943b" providerId="LiveId" clId="{C1ACB752-547B-4403-8B78-D950FD20A7B2}" dt="2026-06-29T10:53:45.069" v="5" actId="20577"/>
        <pc:sldMkLst>
          <pc:docMk/>
          <pc:sldMk cId="958026184" sldId="313"/>
        </pc:sldMkLst>
        <pc:spChg chg="mod">
          <ac:chgData name="다민 유" userId="a4c2f0f7f4b2943b" providerId="LiveId" clId="{C1ACB752-547B-4403-8B78-D950FD20A7B2}" dt="2026-06-29T10:53:34.798" v="4" actId="20577"/>
          <ac:spMkLst>
            <pc:docMk/>
            <pc:sldMk cId="958026184" sldId="313"/>
            <ac:spMk id="60" creationId="{00000000-0000-0000-0000-000000000000}"/>
          </ac:spMkLst>
        </pc:spChg>
        <pc:spChg chg="mod">
          <ac:chgData name="다민 유" userId="a4c2f0f7f4b2943b" providerId="LiveId" clId="{C1ACB752-547B-4403-8B78-D950FD20A7B2}" dt="2026-06-29T10:53:45.069" v="5" actId="20577"/>
          <ac:spMkLst>
            <pc:docMk/>
            <pc:sldMk cId="958026184" sldId="313"/>
            <ac:spMk id="62" creationId="{00000000-0000-0000-0000-000000000000}"/>
          </ac:spMkLst>
        </pc:spChg>
      </pc:sldChg>
      <pc:sldChg chg="modSp mod">
        <pc:chgData name="다민 유" userId="a4c2f0f7f4b2943b" providerId="LiveId" clId="{C1ACB752-547B-4403-8B78-D950FD20A7B2}" dt="2026-06-29T10:52:41.611" v="3" actId="20577"/>
        <pc:sldMkLst>
          <pc:docMk/>
          <pc:sldMk cId="1309296251" sldId="314"/>
        </pc:sldMkLst>
        <pc:spChg chg="mod">
          <ac:chgData name="다민 유" userId="a4c2f0f7f4b2943b" providerId="LiveId" clId="{C1ACB752-547B-4403-8B78-D950FD20A7B2}" dt="2026-06-29T10:52:41.611" v="3" actId="20577"/>
          <ac:spMkLst>
            <pc:docMk/>
            <pc:sldMk cId="1309296251" sldId="314"/>
            <ac:spMk id="30" creationId="{00000000-0000-0000-0000-000000000000}"/>
          </ac:spMkLst>
        </pc:spChg>
      </pc:sldChg>
      <pc:sldChg chg="modSp mod">
        <pc:chgData name="다민 유" userId="a4c2f0f7f4b2943b" providerId="LiveId" clId="{C1ACB752-547B-4403-8B78-D950FD20A7B2}" dt="2026-07-07T01:40:55.508" v="120" actId="20577"/>
        <pc:sldMkLst>
          <pc:docMk/>
          <pc:sldMk cId="0" sldId="315"/>
        </pc:sldMkLst>
        <pc:spChg chg="mod">
          <ac:chgData name="다민 유" userId="a4c2f0f7f4b2943b" providerId="LiveId" clId="{C1ACB752-547B-4403-8B78-D950FD20A7B2}" dt="2026-07-07T01:40:55.508" v="120" actId="20577"/>
          <ac:spMkLst>
            <pc:docMk/>
            <pc:sldMk cId="0" sldId="315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143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578CA-48BA-800D-C237-F8AA87703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6E180-4D34-D8A9-6827-F8CB4B786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C4DDD-003D-670A-B067-CF0809E96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B5960-A26C-182C-CD70-D6025E5A9F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142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다리꼴 15">
            <a:extLst>
              <a:ext uri="{FF2B5EF4-FFF2-40B4-BE49-F238E27FC236}">
                <a16:creationId xmlns:a16="http://schemas.microsoft.com/office/drawing/2014/main" id="{E74ED3D0-CF36-89BC-A441-C8AF25F306BD}"/>
              </a:ext>
            </a:extLst>
          </p:cNvPr>
          <p:cNvSpPr/>
          <p:nvPr/>
        </p:nvSpPr>
        <p:spPr>
          <a:xfrm>
            <a:off x="5795237" y="-529721"/>
            <a:ext cx="8853330" cy="7632974"/>
          </a:xfrm>
          <a:prstGeom prst="trapezoid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50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616781" y="196499"/>
            <a:ext cx="3232501" cy="3232501"/>
          </a:xfrm>
          <a:prstGeom prst="ellipse">
            <a:avLst/>
          </a:prstGeom>
          <a:solidFill>
            <a:srgbClr val="293960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 5"/>
          <p:cNvSpPr/>
          <p:nvPr/>
        </p:nvSpPr>
        <p:spPr>
          <a:xfrm>
            <a:off x="542239" y="2590476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0" dirty="0" err="1">
                <a:solidFill>
                  <a:srgbClr val="293960"/>
                </a:solidFill>
                <a:latin typeface="한컴 울주 반구대 암각화체" panose="02000503000000000000" pitchFamily="2" charset="-127"/>
                <a:ea typeface="한컴 울주 반구대 암각화체" panose="02000503000000000000" pitchFamily="2" charset="-127"/>
                <a:cs typeface="Pretendard ExtraBold" pitchFamily="34" charset="-120"/>
              </a:rPr>
              <a:t>알코올</a:t>
            </a:r>
            <a:r>
              <a:rPr lang="en-US" sz="11500" dirty="0">
                <a:solidFill>
                  <a:srgbClr val="293960"/>
                </a:solidFill>
                <a:latin typeface="한컴 울주 반구대 암각화체" panose="02000503000000000000" pitchFamily="2" charset="-127"/>
                <a:ea typeface="한컴 울주 반구대 암각화체" panose="02000503000000000000" pitchFamily="2" charset="-127"/>
                <a:cs typeface="Pretendard ExtraBold" pitchFamily="34" charset="-120"/>
              </a:rPr>
              <a:t> </a:t>
            </a:r>
            <a:r>
              <a:rPr lang="ko-KR" altLang="en-US" sz="11500" dirty="0">
                <a:solidFill>
                  <a:srgbClr val="293960"/>
                </a:solidFill>
                <a:latin typeface="한컴 울주 반구대 암각화체" panose="02000503000000000000" pitchFamily="2" charset="-127"/>
                <a:ea typeface="한컴 울주 반구대 암각화체" panose="02000503000000000000" pitchFamily="2" charset="-127"/>
                <a:cs typeface="Pretendard ExtraBold" pitchFamily="34" charset="-120"/>
              </a:rPr>
              <a:t>컷</a:t>
            </a:r>
            <a:r>
              <a:rPr lang="en-US" altLang="ko-KR" sz="11500" dirty="0">
                <a:solidFill>
                  <a:srgbClr val="293960"/>
                </a:solidFill>
                <a:latin typeface="한컴 울주 반구대 암각화체" panose="02000503000000000000" pitchFamily="2" charset="-127"/>
                <a:ea typeface="한컴 울주 반구대 암각화체" panose="02000503000000000000" pitchFamily="2" charset="-127"/>
                <a:cs typeface="Pretendard ExtraBold" pitchFamily="34" charset="-120"/>
              </a:rPr>
              <a:t>!</a:t>
            </a:r>
            <a:endParaRPr lang="en-US" sz="11500" dirty="0">
              <a:latin typeface="한컴 울주 반구대 암각화체" panose="02000503000000000000" pitchFamily="2" charset="-127"/>
              <a:ea typeface="한컴 울주 반구대 암각화체" panose="02000503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4393011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29396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퇴원 후 가장 위험한 </a:t>
            </a:r>
            <a:r>
              <a:rPr lang="en-US" altLang="ko-KR" sz="1600" dirty="0">
                <a:solidFill>
                  <a:srgbClr val="29396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90</a:t>
            </a:r>
            <a:r>
              <a:rPr lang="ko-KR" altLang="en-US" sz="1600" dirty="0">
                <a:solidFill>
                  <a:srgbClr val="29396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일</a:t>
            </a:r>
            <a:r>
              <a:rPr lang="en-US" altLang="ko-KR" sz="1600" dirty="0">
                <a:solidFill>
                  <a:srgbClr val="29396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, </a:t>
            </a:r>
            <a:r>
              <a:rPr lang="ko-KR" altLang="en-US" sz="1600" dirty="0">
                <a:solidFill>
                  <a:srgbClr val="29396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진료 사이의 공백을 </a:t>
            </a:r>
            <a:r>
              <a:rPr lang="en-US" altLang="ko-KR" sz="1600" dirty="0">
                <a:solidFill>
                  <a:srgbClr val="29396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AI</a:t>
            </a:r>
            <a:r>
              <a:rPr lang="ko-KR" altLang="en-US" sz="1600" dirty="0">
                <a:solidFill>
                  <a:srgbClr val="29396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가 매일 곁에서</a:t>
            </a:r>
            <a:endParaRPr lang="en-US" altLang="ko-KR" sz="1600" dirty="0">
              <a:solidFill>
                <a:srgbClr val="293960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400" spc="300" dirty="0">
                <a:solidFill>
                  <a:srgbClr val="29396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단주를 위한 치료보조도구</a:t>
            </a:r>
            <a:endParaRPr lang="en-US" sz="1400" spc="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358374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300" dirty="0">
                <a:solidFill>
                  <a:schemeClr val="accent1">
                    <a:lumMod val="50000"/>
                  </a:schemeClr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AUD-CBT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129168" y="6391871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dirty="0" err="1">
                <a:solidFill>
                  <a:schemeClr val="accent1">
                    <a:lumMod val="5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펜타스틱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Pentastic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 - 유다민 · 마준성 · 박재현 · 심지수 · 최성안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182883" y="-975685"/>
            <a:ext cx="3369278" cy="3232501"/>
          </a:xfrm>
          <a:prstGeom prst="ellipse">
            <a:avLst/>
          </a:prstGeom>
          <a:solidFill>
            <a:srgbClr val="63C9CD"/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</p:sp>
      <p:sp>
        <p:nvSpPr>
          <p:cNvPr id="5" name="Shape 3"/>
          <p:cNvSpPr/>
          <p:nvPr/>
        </p:nvSpPr>
        <p:spPr>
          <a:xfrm>
            <a:off x="9762699" y="-403699"/>
            <a:ext cx="3232501" cy="3232501"/>
          </a:xfrm>
          <a:prstGeom prst="ellipse">
            <a:avLst/>
          </a:prstGeom>
          <a:solidFill>
            <a:srgbClr val="EAF3B2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</p:sp>
      <p:sp>
        <p:nvSpPr>
          <p:cNvPr id="6" name="Shape 4"/>
          <p:cNvSpPr/>
          <p:nvPr/>
        </p:nvSpPr>
        <p:spPr>
          <a:xfrm>
            <a:off x="9363815" y="1027484"/>
            <a:ext cx="1616251" cy="1616251"/>
          </a:xfrm>
          <a:prstGeom prst="ellipse">
            <a:avLst/>
          </a:prstGeom>
          <a:solidFill>
            <a:srgbClr val="F7FFE7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8D1D67-288C-3390-63AE-2039428E9215}"/>
              </a:ext>
            </a:extLst>
          </p:cNvPr>
          <p:cNvSpPr/>
          <p:nvPr/>
        </p:nvSpPr>
        <p:spPr>
          <a:xfrm>
            <a:off x="3739581" y="196499"/>
            <a:ext cx="5391807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785247-F916-9A44-78FC-A5E027D83028}"/>
              </a:ext>
            </a:extLst>
          </p:cNvPr>
          <p:cNvSpPr/>
          <p:nvPr/>
        </p:nvSpPr>
        <p:spPr>
          <a:xfrm>
            <a:off x="277474" y="6606696"/>
            <a:ext cx="6716109" cy="5480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22225">
            <a:solidFill>
              <a:srgbClr val="63C9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PROBLEM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AUD </a:t>
            </a:r>
            <a:r>
              <a:rPr lang="ko-KR" altLang="en-US" sz="3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환자의 </a:t>
            </a:r>
            <a:r>
              <a:rPr lang="en-US" sz="3400" b="1" dirty="0" err="1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퇴원</a:t>
            </a:r>
            <a:r>
              <a:rPr lang="en-US" sz="3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 후 90일 공백</a:t>
            </a:r>
            <a:endParaRPr lang="en-US" sz="3400" b="1" dirty="0">
              <a:latin typeface="LG Smart UI Regular"/>
              <a:ea typeface="LG Smart UI Regular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83514" y="2085902"/>
            <a:ext cx="2686196" cy="2686196"/>
          </a:xfrm>
          <a:prstGeom prst="ellipse">
            <a:avLst/>
          </a:prstGeom>
          <a:solidFill>
            <a:srgbClr val="2939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95299" y="2978363"/>
            <a:ext cx="2101908" cy="835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50–60%</a:t>
            </a:r>
          </a:p>
        </p:txBody>
      </p:sp>
      <p:sp>
        <p:nvSpPr>
          <p:cNvPr id="7" name="Text 5"/>
          <p:cNvSpPr/>
          <p:nvPr/>
        </p:nvSpPr>
        <p:spPr>
          <a:xfrm>
            <a:off x="983514" y="3636824"/>
            <a:ext cx="2686196" cy="647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spc="3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재발</a:t>
            </a:r>
            <a:endParaRPr lang="en-US" sz="1300" b="1" spc="300" dirty="0">
              <a:solidFill>
                <a:schemeClr val="accent1">
                  <a:lumMod val="20000"/>
                  <a:lumOff val="80000"/>
                </a:schemeClr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7161" y="5090744"/>
            <a:ext cx="3758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퇴원 후 3개월 내 재발</a:t>
            </a:r>
            <a:endParaRPr lang="en-US" sz="1400" dirty="0">
              <a:latin typeface="LG Smart UI Regular"/>
              <a:ea typeface="LG Smart UI Regular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86834" y="2085902"/>
            <a:ext cx="2686196" cy="2686196"/>
          </a:xfrm>
          <a:prstGeom prst="ellipse">
            <a:avLst/>
          </a:prstGeom>
          <a:solidFill>
            <a:srgbClr val="2939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978978" y="2976938"/>
            <a:ext cx="2101908" cy="835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월 1-2회</a:t>
            </a:r>
          </a:p>
        </p:txBody>
      </p:sp>
      <p:sp>
        <p:nvSpPr>
          <p:cNvPr id="11" name="Text 9"/>
          <p:cNvSpPr/>
          <p:nvPr/>
        </p:nvSpPr>
        <p:spPr>
          <a:xfrm>
            <a:off x="4737662" y="3644199"/>
            <a:ext cx="2686196" cy="647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spc="30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외래</a:t>
            </a:r>
            <a:endParaRPr lang="en-US" sz="1300" b="1" spc="300" dirty="0">
              <a:solidFill>
                <a:schemeClr val="accent1">
                  <a:lumMod val="20000"/>
                  <a:lumOff val="80000"/>
                </a:schemeClr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01668" y="5079647"/>
            <a:ext cx="3758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‘지속 외래’ </a:t>
            </a:r>
            <a:r>
              <a:rPr lang="en-US" sz="1400" dirty="0" err="1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기준</a:t>
            </a:r>
            <a:r>
              <a:rPr lang="en-US" sz="140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 : </a:t>
            </a:r>
            <a:r>
              <a:rPr lang="ko-KR" altLang="en-US" sz="140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퇴원 후 월 </a:t>
            </a:r>
            <a:r>
              <a:rPr lang="en-US" altLang="ko-KR" sz="140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1</a:t>
            </a:r>
            <a:r>
              <a:rPr lang="ko-KR" altLang="en-US" sz="140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회 이상</a:t>
            </a:r>
            <a:endParaRPr lang="en-US" altLang="ko-KR" sz="1400" dirty="0">
              <a:solidFill>
                <a:srgbClr val="293960"/>
              </a:solidFill>
              <a:latin typeface="LG Smart UI Regular"/>
              <a:ea typeface="LG Smart UI Regular"/>
              <a:cs typeface="Pretendard" pitchFamily="34" charset="-12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1년 유지 12.7%</a:t>
            </a:r>
            <a:endParaRPr lang="en-US" sz="1400" dirty="0">
              <a:latin typeface="LG Smart UI Regular"/>
              <a:ea typeface="LG Smart UI Regular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390154" y="2085902"/>
            <a:ext cx="2686196" cy="2686196"/>
          </a:xfrm>
          <a:prstGeom prst="ellipse">
            <a:avLst/>
          </a:prstGeom>
          <a:solidFill>
            <a:srgbClr val="2939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701939" y="2978363"/>
            <a:ext cx="2101908" cy="835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chemeClr val="bg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14.5%</a:t>
            </a:r>
            <a:endParaRPr lang="en-US" sz="4000" b="1" dirty="0">
              <a:solidFill>
                <a:schemeClr val="bg1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90154" y="3637619"/>
            <a:ext cx="2686196" cy="647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6" b="1" spc="300" dirty="0">
                <a:solidFill>
                  <a:schemeClr val="accent1">
                    <a:lumMod val="20000"/>
                    <a:lumOff val="80000"/>
                  </a:schemeClr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Pretendard" pitchFamily="34" charset="-120"/>
              </a:rPr>
              <a:t>단주</a:t>
            </a:r>
            <a:endParaRPr lang="en-US" sz="1296" spc="300" dirty="0">
              <a:solidFill>
                <a:schemeClr val="accent1">
                  <a:lumMod val="20000"/>
                  <a:lumOff val="80000"/>
                </a:schemeClr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97771" y="5084229"/>
            <a:ext cx="3758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1년 이상 단주 유지율</a:t>
            </a:r>
            <a:endParaRPr lang="en-US" sz="1400" dirty="0">
              <a:latin typeface="LG Smart UI Regular"/>
              <a:ea typeface="LG Smart UI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284075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22225">
            <a:solidFill>
              <a:srgbClr val="63C9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754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SOLUTION 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CBT(</a:t>
            </a:r>
            <a:r>
              <a:rPr lang="ko-KR" altLang="en-US" sz="3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인지행동치료</a:t>
            </a:r>
            <a:r>
              <a:rPr lang="en-US" altLang="ko-KR" sz="3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) - </a:t>
            </a:r>
            <a:r>
              <a:rPr lang="en-US" sz="3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ABC 인지 모델</a:t>
            </a:r>
            <a:endParaRPr lang="en-US" sz="3400" b="1" dirty="0">
              <a:latin typeface="LG Smart UI Regular"/>
              <a:ea typeface="LG Smart UI Regular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8932" y="2409686"/>
            <a:ext cx="2240280" cy="13850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noFill/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4139" y="2656986"/>
            <a:ext cx="557345" cy="537238"/>
          </a:xfrm>
          <a:prstGeom prst="ellipse">
            <a:avLst/>
          </a:prstGeom>
          <a:solidFill>
            <a:srgbClr val="293960"/>
          </a:solidFill>
          <a:ln/>
        </p:spPr>
      </p:sp>
      <p:sp>
        <p:nvSpPr>
          <p:cNvPr id="7" name="Text 5"/>
          <p:cNvSpPr/>
          <p:nvPr/>
        </p:nvSpPr>
        <p:spPr>
          <a:xfrm>
            <a:off x="827044" y="2644874"/>
            <a:ext cx="709349" cy="53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AF3B2"/>
                </a:solidFill>
                <a:latin typeface="LG Smart UI Regular"/>
                <a:ea typeface="LG Smart UI Regular"/>
                <a:cs typeface="Pretendard ExtraBold" pitchFamily="34" charset="-120"/>
              </a:rPr>
              <a:t>A</a:t>
            </a:r>
            <a:endParaRPr lang="en-US" sz="2200" dirty="0">
              <a:latin typeface="LG Smart UI Regular"/>
              <a:ea typeface="LG Smart UI Regular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34107" y="2703750"/>
            <a:ext cx="1188720" cy="34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상황</a:t>
            </a:r>
            <a:endParaRPr lang="en-US" sz="2000" dirty="0">
              <a:latin typeface="LG Smart UI Regular"/>
              <a:ea typeface="LG Smart UI Regular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7532" y="3369805"/>
            <a:ext cx="1828800" cy="34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"퇴근 후, 힘든 하루"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46120" y="2423160"/>
            <a:ext cx="2743200" cy="1371600"/>
          </a:xfrm>
          <a:prstGeom prst="rect">
            <a:avLst/>
          </a:prstGeom>
          <a:solidFill>
            <a:srgbClr val="FBEDEA"/>
          </a:solidFill>
          <a:ln w="13970">
            <a:noFill/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63347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2633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LG Smart UI Regular"/>
                <a:ea typeface="LG Smart UI Regular"/>
                <a:cs typeface="Pretendard ExtraBold" pitchFamily="34" charset="-120"/>
              </a:rPr>
              <a:t>B</a:t>
            </a:r>
            <a:endParaRPr lang="en-US" sz="1800" dirty="0">
              <a:latin typeface="LG Smart UI Regular"/>
              <a:ea typeface="LG Smart UI Regular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자동 사고</a:t>
            </a:r>
            <a:endParaRPr lang="en-US" dirty="0">
              <a:latin typeface="LG Smart UI Regular"/>
              <a:ea typeface="LG Smart UI Regular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7472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"한 잔쯤은 괜찮아"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799" y="2423160"/>
            <a:ext cx="1937801" cy="1371600"/>
          </a:xfrm>
          <a:prstGeom prst="rect">
            <a:avLst/>
          </a:prstGeom>
          <a:solidFill>
            <a:srgbClr val="FBEDEA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6629400" y="288036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LG Smart UI Regular"/>
                <a:ea typeface="LG Smart UI Regular"/>
                <a:cs typeface="Pretendard ExtraBold" pitchFamily="34" charset="-120"/>
              </a:rPr>
              <a:t>C</a:t>
            </a:r>
            <a:endParaRPr lang="en-US" sz="1600" dirty="0">
              <a:latin typeface="LG Smart UI Regular"/>
              <a:ea typeface="LG Smart UI Regular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223760" y="2880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음주</a:t>
            </a:r>
            <a:endParaRPr lang="en-US" sz="2000" dirty="0">
              <a:latin typeface="LG Smart UI Regular"/>
              <a:ea typeface="LG Smart UI Regular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383280" y="3931920"/>
            <a:ext cx="2286000" cy="384048"/>
          </a:xfrm>
          <a:prstGeom prst="rect">
            <a:avLst/>
          </a:prstGeom>
          <a:solidFill>
            <a:srgbClr val="293960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931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F3B2"/>
                </a:solidFill>
                <a:latin typeface="LG Smart UI Regular"/>
                <a:ea typeface="LG Smart UI Regular"/>
                <a:cs typeface="Pretendard" pitchFamily="34" charset="-120"/>
              </a:rPr>
              <a:t>  CBT 개입</a:t>
            </a:r>
            <a:endParaRPr lang="en-US" sz="1100" dirty="0">
              <a:latin typeface="LG Smart UI Regular"/>
              <a:ea typeface="LG Smart UI Regular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46120" y="4434840"/>
            <a:ext cx="2743200" cy="1371600"/>
          </a:xfrm>
          <a:prstGeom prst="rect">
            <a:avLst/>
          </a:prstGeom>
          <a:solidFill>
            <a:srgbClr val="E8F3E5"/>
          </a:solidFill>
          <a:ln w="13970">
            <a:noFill/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4645152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4645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LG Smart UI Regular"/>
                <a:ea typeface="LG Smart UI Regular"/>
                <a:cs typeface="Pretendard ExtraBold" pitchFamily="34" charset="-120"/>
              </a:rPr>
              <a:t>B'</a:t>
            </a:r>
            <a:endParaRPr lang="en-US" sz="1600" dirty="0">
              <a:latin typeface="LG Smart UI Regular"/>
              <a:ea typeface="LG Smart UI Regular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114800" y="4663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대안적 사고</a:t>
            </a:r>
            <a:endParaRPr lang="en-US" dirty="0">
              <a:latin typeface="LG Smart UI Regular"/>
              <a:ea typeface="LG Smart UI Regular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74720" y="5257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"산책으로 푼다"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00800" y="4434840"/>
            <a:ext cx="1937801" cy="1371600"/>
          </a:xfrm>
          <a:prstGeom prst="rect">
            <a:avLst/>
          </a:prstGeom>
          <a:solidFill>
            <a:srgbClr val="E8F3E5"/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6629400" y="489204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LG Smart UI Regular"/>
                <a:ea typeface="LG Smart UI Regular"/>
                <a:cs typeface="Pretendard ExtraBold" pitchFamily="34" charset="-120"/>
              </a:rPr>
              <a:t>C'</a:t>
            </a:r>
            <a:endParaRPr lang="en-US" sz="1400" dirty="0">
              <a:latin typeface="LG Smart UI Regular"/>
              <a:ea typeface="LG Smart UI Regular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223760" y="4892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단주 유지</a:t>
            </a:r>
            <a:endParaRPr lang="en-US" dirty="0">
              <a:latin typeface="LG Smart UI Regular"/>
              <a:ea typeface="LG Smart UI Regular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035040" y="2880360"/>
            <a:ext cx="310896" cy="411480"/>
          </a:xfrm>
          <a:prstGeom prst="chevron">
            <a:avLst/>
          </a:prstGeom>
          <a:solidFill>
            <a:srgbClr val="C0392B"/>
          </a:solidFill>
          <a:ln/>
        </p:spPr>
      </p:sp>
      <p:sp>
        <p:nvSpPr>
          <p:cNvPr id="38" name="Shape 36"/>
          <p:cNvSpPr/>
          <p:nvPr/>
        </p:nvSpPr>
        <p:spPr>
          <a:xfrm>
            <a:off x="6035040" y="4892040"/>
            <a:ext cx="310896" cy="411480"/>
          </a:xfrm>
          <a:prstGeom prst="chevron">
            <a:avLst/>
          </a:prstGeom>
          <a:solidFill>
            <a:srgbClr val="2E7D32"/>
          </a:solidFill>
          <a:ln/>
        </p:spPr>
      </p:sp>
      <p:sp>
        <p:nvSpPr>
          <p:cNvPr id="39" name="Shape 37"/>
          <p:cNvSpPr/>
          <p:nvPr/>
        </p:nvSpPr>
        <p:spPr>
          <a:xfrm>
            <a:off x="8567200" y="1962024"/>
            <a:ext cx="3162554" cy="3886200"/>
          </a:xfrm>
          <a:prstGeom prst="rect">
            <a:avLst/>
          </a:prstGeom>
          <a:solidFill>
            <a:srgbClr val="293960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0" name="Text 38"/>
          <p:cNvSpPr/>
          <p:nvPr/>
        </p:nvSpPr>
        <p:spPr>
          <a:xfrm>
            <a:off x="8795799" y="2190624"/>
            <a:ext cx="25543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63C9CD"/>
                </a:solidFill>
                <a:latin typeface="LG Smart UI Regular"/>
                <a:ea typeface="LG Smart UI Regular"/>
              </a:rPr>
              <a:t>핵심 원칙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795799" y="2602104"/>
            <a:ext cx="25543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AF3B2"/>
                </a:solidFill>
                <a:latin typeface="LG Smart UI Regular"/>
                <a:ea typeface="LG Smart UI Regular"/>
                <a:cs typeface="Pretendard" pitchFamily="34" charset="-120"/>
              </a:rPr>
              <a:t>B(생각)</a:t>
            </a:r>
            <a:r>
              <a:rPr lang="en-US" sz="1600" b="1" dirty="0">
                <a:solidFill>
                  <a:srgbClr val="F7FFE7"/>
                </a:solidFill>
                <a:latin typeface="LG Smart UI Regular"/>
                <a:ea typeface="LG Smart UI Regular"/>
                <a:cs typeface="Pretendard" pitchFamily="34" charset="-120"/>
              </a:rPr>
              <a:t>를 바꾸면
</a:t>
            </a:r>
            <a:endParaRPr lang="en-US" sz="1600" dirty="0">
              <a:latin typeface="LG Smart UI Regular"/>
              <a:ea typeface="LG Smart UI Regular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AF3B2"/>
                </a:solidFill>
                <a:latin typeface="LG Smart UI Regular"/>
                <a:ea typeface="LG Smart UI Regular"/>
                <a:cs typeface="Pretendard" pitchFamily="34" charset="-120"/>
              </a:rPr>
              <a:t>C(행동)</a:t>
            </a:r>
            <a:r>
              <a:rPr lang="en-US" sz="1600" b="1" dirty="0">
                <a:solidFill>
                  <a:srgbClr val="F7FFE7"/>
                </a:solidFill>
                <a:latin typeface="LG Smart UI Regular"/>
                <a:ea typeface="LG Smart UI Regular"/>
                <a:cs typeface="Pretendard" pitchFamily="34" charset="-120"/>
              </a:rPr>
              <a:t>가 바뀐다</a:t>
            </a:r>
            <a:endParaRPr lang="en-US" sz="1600" dirty="0">
              <a:latin typeface="LG Smart UI Regular"/>
              <a:ea typeface="LG Smart UI Regular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795799" y="3790824"/>
            <a:ext cx="255437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LG Smart UI Regular"/>
                <a:ea typeface="LG Smart UI Regular"/>
                <a:cs typeface="Pretendard" pitchFamily="34" charset="-120"/>
              </a:rPr>
              <a:t>CBT </a:t>
            </a:r>
            <a:r>
              <a:rPr lang="ko-KR" altLang="en-US" sz="1150" dirty="0">
                <a:solidFill>
                  <a:srgbClr val="C7D2E0"/>
                </a:solidFill>
                <a:latin typeface="LG Smart UI Regular"/>
                <a:ea typeface="LG Smart UI Regular"/>
                <a:cs typeface="Pretendard" pitchFamily="34" charset="-120"/>
              </a:rPr>
              <a:t>이론 </a:t>
            </a:r>
            <a:r>
              <a:rPr lang="en-US" altLang="ko-KR" sz="1150" dirty="0">
                <a:solidFill>
                  <a:srgbClr val="C7D2E0"/>
                </a:solidFill>
                <a:latin typeface="LG Smart UI Regular"/>
                <a:ea typeface="LG Smart UI Regular"/>
                <a:cs typeface="Pretendard" pitchFamily="34" charset="-120"/>
              </a:rPr>
              <a:t>: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 err="1">
                <a:solidFill>
                  <a:srgbClr val="C7D2E0"/>
                </a:solidFill>
                <a:latin typeface="LG Smart UI Regular"/>
                <a:ea typeface="LG Smart UI Regular"/>
                <a:cs typeface="Pretendard" pitchFamily="34" charset="-120"/>
              </a:rPr>
              <a:t>음주는</a:t>
            </a:r>
            <a:r>
              <a:rPr lang="en-US" sz="1150" dirty="0">
                <a:solidFill>
                  <a:srgbClr val="C7D2E0"/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ko-KR" altLang="en-US" sz="1150" dirty="0">
                <a:solidFill>
                  <a:srgbClr val="C7D2E0"/>
                </a:solidFill>
                <a:latin typeface="LG Smart UI Regular"/>
                <a:ea typeface="LG Smart UI Regular"/>
                <a:cs typeface="Pretendard" pitchFamily="34" charset="-120"/>
              </a:rPr>
              <a:t>학습된 행동이며</a:t>
            </a:r>
            <a:r>
              <a:rPr lang="en-US" altLang="ko-KR" sz="1150" dirty="0">
                <a:solidFill>
                  <a:srgbClr val="C7D2E0"/>
                </a:solidFill>
                <a:latin typeface="LG Smart UI Regular"/>
                <a:ea typeface="LG Smart UI Regular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C7D2E0"/>
                </a:solidFill>
                <a:latin typeface="LG Smart UI Regular"/>
                <a:ea typeface="LG Smart UI Regular"/>
                <a:cs typeface="Pretendard" pitchFamily="34" charset="-120"/>
              </a:rPr>
              <a:t>환경 단서가 갈망을 </a:t>
            </a:r>
            <a:r>
              <a:rPr lang="en-US" altLang="ko-KR" sz="1150" dirty="0">
                <a:solidFill>
                  <a:srgbClr val="C7D2E0"/>
                </a:solidFill>
                <a:latin typeface="LG Smart UI Regular"/>
                <a:ea typeface="LG Smart UI Regular"/>
                <a:cs typeface="Pretendard" pitchFamily="34" charset="-120"/>
              </a:rPr>
              <a:t>‘</a:t>
            </a:r>
            <a:r>
              <a:rPr lang="ko-KR" altLang="en-US" sz="1150" dirty="0">
                <a:solidFill>
                  <a:srgbClr val="C7D2E0"/>
                </a:solidFill>
                <a:latin typeface="LG Smart UI Regular"/>
                <a:ea typeface="LG Smart UI Regular"/>
                <a:cs typeface="Pretendard" pitchFamily="34" charset="-120"/>
              </a:rPr>
              <a:t>조건화</a:t>
            </a:r>
            <a:r>
              <a:rPr lang="en-US" altLang="ko-KR" sz="1150" dirty="0">
                <a:solidFill>
                  <a:srgbClr val="C7D2E0"/>
                </a:solidFill>
                <a:latin typeface="LG Smart UI Regular"/>
                <a:ea typeface="LG Smart UI Regular"/>
                <a:cs typeface="Pretendard" pitchFamily="34" charset="-120"/>
              </a:rPr>
              <a:t>’</a:t>
            </a:r>
            <a:r>
              <a:rPr lang="ko-KR" altLang="en-US" sz="1150" dirty="0">
                <a:solidFill>
                  <a:srgbClr val="C7D2E0"/>
                </a:solidFill>
                <a:latin typeface="LG Smart UI Regular"/>
                <a:ea typeface="LG Smart UI Regular"/>
                <a:cs typeface="Pretendard" pitchFamily="34" charset="-120"/>
              </a:rPr>
              <a:t>해 자동으로 음주를 촉발함</a:t>
            </a:r>
            <a:endParaRPr lang="en-US" altLang="ko-KR" sz="1150" dirty="0">
              <a:solidFill>
                <a:srgbClr val="C7D2E0"/>
              </a:solidFill>
              <a:latin typeface="LG Smart UI Regular"/>
              <a:ea typeface="LG Smart UI Regular"/>
              <a:cs typeface="Pretendard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altLang="ko-KR" sz="1150" dirty="0">
              <a:solidFill>
                <a:srgbClr val="C7D2E0"/>
              </a:solidFill>
              <a:latin typeface="LG Smart UI Regular"/>
              <a:ea typeface="LG Smart UI Regular"/>
              <a:cs typeface="Pretendard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altLang="ko-KR" sz="1150" dirty="0">
                <a:solidFill>
                  <a:srgbClr val="C7D2E0"/>
                </a:solidFill>
                <a:latin typeface="LG Smart UI Regular"/>
                <a:ea typeface="LG Smart UI Regular"/>
              </a:rPr>
              <a:t>&gt; </a:t>
            </a:r>
            <a:r>
              <a:rPr lang="ko-KR" altLang="en-US" sz="1150" dirty="0">
                <a:solidFill>
                  <a:srgbClr val="C7D2E0"/>
                </a:solidFill>
                <a:latin typeface="LG Smart UI Regular"/>
                <a:ea typeface="LG Smart UI Regular"/>
              </a:rPr>
              <a:t>목표 </a:t>
            </a:r>
            <a:r>
              <a:rPr lang="en-US" altLang="ko-KR" sz="1150" dirty="0">
                <a:solidFill>
                  <a:srgbClr val="C7D2E0"/>
                </a:solidFill>
                <a:latin typeface="LG Smart UI Regular"/>
                <a:ea typeface="LG Smart UI Regular"/>
              </a:rPr>
              <a:t>: </a:t>
            </a:r>
          </a:p>
          <a:p>
            <a:pPr>
              <a:lnSpc>
                <a:spcPct val="125000"/>
              </a:lnSpc>
            </a:pPr>
            <a:r>
              <a:rPr lang="ko-KR" altLang="en-US" sz="1150" dirty="0">
                <a:solidFill>
                  <a:srgbClr val="C7D2E0"/>
                </a:solidFill>
                <a:latin typeface="LG Smart UI Regular"/>
                <a:ea typeface="LG Smart UI Regular"/>
              </a:rPr>
              <a:t>내가 어떤 고위험 상황에서 마시는지 찾아내고</a:t>
            </a:r>
            <a:r>
              <a:rPr lang="en-US" altLang="ko-KR" sz="1150" dirty="0">
                <a:solidFill>
                  <a:srgbClr val="C7D2E0"/>
                </a:solidFill>
                <a:latin typeface="LG Smart UI Regular"/>
                <a:ea typeface="LG Smart UI Regular"/>
              </a:rPr>
              <a:t>, </a:t>
            </a:r>
            <a:r>
              <a:rPr lang="ko-KR" altLang="en-US" sz="1150" dirty="0">
                <a:solidFill>
                  <a:srgbClr val="C7D2E0"/>
                </a:solidFill>
                <a:latin typeface="LG Smart UI Regular"/>
                <a:ea typeface="LG Smart UI Regular"/>
              </a:rPr>
              <a:t>그 상황을 음주 없이 다루는 구체적 기술을 익히는 것</a:t>
            </a:r>
            <a:endParaRPr lang="en-US" sz="1150" dirty="0">
              <a:latin typeface="LG Smart UI Regular"/>
              <a:ea typeface="LG Smart UI Regular"/>
            </a:endParaRPr>
          </a:p>
        </p:txBody>
      </p:sp>
      <p:sp>
        <p:nvSpPr>
          <p:cNvPr id="44" name="Shape 36">
            <a:extLst>
              <a:ext uri="{FF2B5EF4-FFF2-40B4-BE49-F238E27FC236}">
                <a16:creationId xmlns:a16="http://schemas.microsoft.com/office/drawing/2014/main" id="{81226D33-0DAE-C35D-0DA7-38C0A322E610}"/>
              </a:ext>
            </a:extLst>
          </p:cNvPr>
          <p:cNvSpPr/>
          <p:nvPr/>
        </p:nvSpPr>
        <p:spPr>
          <a:xfrm>
            <a:off x="2884932" y="2880360"/>
            <a:ext cx="310896" cy="41148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36">
            <a:extLst>
              <a:ext uri="{FF2B5EF4-FFF2-40B4-BE49-F238E27FC236}">
                <a16:creationId xmlns:a16="http://schemas.microsoft.com/office/drawing/2014/main" id="{1C8676D6-2CDF-AEFA-1237-92C6E1B96E72}"/>
              </a:ext>
            </a:extLst>
          </p:cNvPr>
          <p:cNvSpPr/>
          <p:nvPr/>
        </p:nvSpPr>
        <p:spPr>
          <a:xfrm rot="5247508">
            <a:off x="3963979" y="3990729"/>
            <a:ext cx="197962" cy="293030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22225">
            <a:solidFill>
              <a:srgbClr val="63C9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754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3C9CD"/>
                </a:solidFill>
                <a:latin typeface="LG Smart UI Regular"/>
                <a:ea typeface="LG Smart UI Regular"/>
              </a:rPr>
              <a:t>SOLUTION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NIAAA 임상 토대</a:t>
            </a:r>
            <a:endParaRPr lang="en-US" sz="3400" b="1" dirty="0">
              <a:latin typeface="LG Smart UI Regular"/>
              <a:ea typeface="LG Smart UI Regular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029200" cy="3154680"/>
          </a:xfrm>
          <a:prstGeom prst="rect">
            <a:avLst/>
          </a:prstGeom>
          <a:solidFill>
            <a:srgbClr val="F7FFE7"/>
          </a:solidFill>
          <a:ln w="15875">
            <a:solidFill>
              <a:srgbClr val="293960"/>
            </a:solidFill>
            <a:prstDash val="solid"/>
          </a:ln>
        </p:spPr>
      </p:sp>
      <p:pic>
        <p:nvPicPr>
          <p:cNvPr id="6" name="Image 0" descr="assets/cb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48840"/>
            <a:ext cx="1798588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08960" y="2240280"/>
            <a:ext cx="1097280" cy="411480"/>
          </a:xfrm>
          <a:prstGeom prst="rect">
            <a:avLst/>
          </a:prstGeom>
          <a:solidFill>
            <a:srgbClr val="63C9CD"/>
          </a:solidFill>
          <a:ln/>
        </p:spPr>
      </p:sp>
      <p:sp>
        <p:nvSpPr>
          <p:cNvPr id="8" name="Text 5"/>
          <p:cNvSpPr/>
          <p:nvPr/>
        </p:nvSpPr>
        <p:spPr>
          <a:xfrm>
            <a:off x="310896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CBST</a:t>
            </a:r>
            <a:endParaRPr lang="en-US" sz="1400" dirty="0">
              <a:latin typeface="LG Smart UI Regular"/>
              <a:ea typeface="LG Smart UI Regular"/>
            </a:endParaRPr>
          </a:p>
        </p:txBody>
      </p:sp>
      <p:sp>
        <p:nvSpPr>
          <p:cNvPr id="9" name="Text 6"/>
          <p:cNvSpPr/>
          <p:nvPr/>
        </p:nvSpPr>
        <p:spPr>
          <a:xfrm>
            <a:off x="310896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인지행동 대처기술치료</a:t>
            </a:r>
            <a:endParaRPr lang="en-US" sz="1600" dirty="0">
              <a:latin typeface="LG Smart UI Regular"/>
              <a:ea typeface="LG Smart UI Regular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10896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NIAAA · Project MATCH, 1995</a:t>
            </a:r>
            <a:endParaRPr lang="en-US" sz="1150" dirty="0">
              <a:latin typeface="LG Smart UI Regular"/>
              <a:ea typeface="LG Smart UI Regular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108960" y="3611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CBT를 알코올 사용장애용으로 매뉴얼화한 표준 프로토콜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355080" y="1874520"/>
            <a:ext cx="5029200" cy="3154680"/>
          </a:xfrm>
          <a:prstGeom prst="rect">
            <a:avLst/>
          </a:prstGeom>
          <a:solidFill>
            <a:srgbClr val="F7FFE7"/>
          </a:solidFill>
          <a:ln w="15875">
            <a:solidFill>
              <a:srgbClr val="293960"/>
            </a:solidFill>
            <a:prstDash val="solid"/>
          </a:ln>
        </p:spPr>
      </p:sp>
      <p:pic>
        <p:nvPicPr>
          <p:cNvPr id="13" name="Image 1" descr="assets/c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148840"/>
            <a:ext cx="1798588" cy="23317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686800" y="2240280"/>
            <a:ext cx="1097280" cy="411480"/>
          </a:xfrm>
          <a:prstGeom prst="rect">
            <a:avLst/>
          </a:prstGeom>
          <a:solidFill>
            <a:srgbClr val="293960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F3B2"/>
                </a:solidFill>
                <a:latin typeface="LG Smart UI Regular"/>
                <a:ea typeface="LG Smart UI Regular"/>
                <a:cs typeface="Pretendard" pitchFamily="34" charset="-120"/>
              </a:rPr>
              <a:t>CBI</a:t>
            </a:r>
            <a:endParaRPr lang="en-US" sz="1400" dirty="0">
              <a:latin typeface="LG Smart UI Regular"/>
              <a:ea typeface="LG Smart UI Regular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68680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복합행동중재</a:t>
            </a:r>
            <a:endParaRPr lang="en-US" sz="1600" dirty="0">
              <a:latin typeface="LG Smart UI Regular"/>
              <a:ea typeface="LG Smart UI Regular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68680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NIAAA · COMBINE, 2004</a:t>
            </a:r>
            <a:endParaRPr lang="en-US" sz="1150" dirty="0">
              <a:latin typeface="LG Smart UI Regular"/>
              <a:ea typeface="LG Smart UI Regular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686800" y="3611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CBT </a:t>
            </a:r>
            <a:r>
              <a:rPr lang="en-US" sz="1200" dirty="0" err="1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기술훈련을</a:t>
            </a:r>
            <a:r>
              <a:rPr lang="en-US" sz="120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동기강화·가족참여·약물지원과</a:t>
            </a:r>
            <a:r>
              <a:rPr lang="en-US" sz="120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통합한</a:t>
            </a:r>
            <a:r>
              <a:rPr lang="en-US" sz="120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확장</a:t>
            </a:r>
            <a:r>
              <a:rPr lang="en-US" sz="120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 매뉴얼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1772492" y="5193792"/>
            <a:ext cx="86467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spc="300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CBST를</a:t>
            </a:r>
            <a:r>
              <a:rPr lang="en-US" sz="1600" b="1" i="1" spc="3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1600" b="1" i="1" spc="300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핵심</a:t>
            </a:r>
            <a:r>
              <a:rPr lang="en-US" sz="1600" b="1" i="1" spc="3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1600" b="1" i="1" spc="300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치료</a:t>
            </a:r>
            <a:r>
              <a:rPr lang="en-US" sz="1600" b="1" i="1" spc="3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1600" b="1" i="1" spc="300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토대로</a:t>
            </a:r>
            <a:r>
              <a:rPr lang="en-US" sz="1600" b="1" i="1" spc="3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, </a:t>
            </a:r>
            <a:r>
              <a:rPr lang="en-US" sz="1600" i="1" spc="300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CBST에</a:t>
            </a:r>
            <a:r>
              <a:rPr lang="en-US" sz="1600" i="1" spc="3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1600" i="1" spc="300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없는</a:t>
            </a:r>
            <a:r>
              <a:rPr lang="en-US" sz="1600" i="1" spc="3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1600" i="1" spc="300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재발·복약</a:t>
            </a:r>
            <a:r>
              <a:rPr lang="en-US" sz="1600" i="1" spc="3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1600" i="1" spc="300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대응</a:t>
            </a:r>
            <a:r>
              <a:rPr lang="en-US" sz="1600" i="1" spc="3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1600" i="1" spc="300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절차를</a:t>
            </a:r>
            <a:r>
              <a:rPr lang="en-US" sz="1600" i="1" spc="3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1600" b="1" i="1" spc="300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CBI에서</a:t>
            </a:r>
            <a:r>
              <a:rPr lang="en-US" sz="1600" b="1" i="1" spc="3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1600" b="1" i="1" spc="300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가져와</a:t>
            </a:r>
            <a:r>
              <a:rPr lang="en-US" sz="1600" b="1" i="1" spc="3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1600" b="1" i="1" spc="300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결합</a:t>
            </a:r>
            <a:endParaRPr lang="en-US" sz="1600" i="1" spc="300" dirty="0">
              <a:solidFill>
                <a:schemeClr val="accent1">
                  <a:lumMod val="50000"/>
                </a:schemeClr>
              </a:solidFill>
              <a:latin typeface="LG Smart UI Regular"/>
              <a:ea typeface="LG Smart UI Regula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22225">
            <a:solidFill>
              <a:srgbClr val="63C9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754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3C9CD"/>
                </a:solidFill>
                <a:latin typeface="LG Smart UI Regular"/>
                <a:ea typeface="LG Smart UI Regular"/>
              </a:rPr>
              <a:t>PRODUCT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단주를 돕기 위한 하나의 통합 엔진</a:t>
            </a:r>
            <a:endParaRPr lang="en-US" sz="3400" b="1" dirty="0">
              <a:latin typeface="LG Smart UI Regular"/>
              <a:ea typeface="LG Smart UI Regular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616494"/>
            <a:ext cx="2331720" cy="10515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987552" y="1730794"/>
            <a:ext cx="411480" cy="41148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1481328" y="173079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LG Smart UI Regular"/>
                <a:ea typeface="LG Smart UI Regular"/>
                <a:cs typeface="Pretendard" pitchFamily="34" charset="-120"/>
              </a:rPr>
              <a:t>입력</a:t>
            </a:r>
            <a:endParaRPr lang="en-US" sz="1400" dirty="0">
              <a:solidFill>
                <a:schemeClr val="bg1"/>
              </a:solidFill>
              <a:latin typeface="LG Smart UI Regular"/>
              <a:ea typeface="LG Smart UI Regular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7552" y="218799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LG Smart UI Regular"/>
                <a:ea typeface="LG Smart UI Regular"/>
                <a:cs typeface="Pretendard" pitchFamily="34" charset="-120"/>
              </a:rPr>
              <a:t>매일 3분 체크인</a:t>
            </a:r>
            <a:endParaRPr lang="en-US" sz="1050" dirty="0">
              <a:solidFill>
                <a:schemeClr val="bg1"/>
              </a:solidFill>
              <a:latin typeface="LG Smart UI Regular"/>
              <a:ea typeface="LG Smart UI Regular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LG Smart UI Regular"/>
                <a:ea typeface="LG Smart UI Regular"/>
                <a:cs typeface="Pretendard" pitchFamily="34" charset="-120"/>
              </a:rPr>
              <a:t>기분·갈망·수면·복약</a:t>
            </a:r>
            <a:endParaRPr lang="en-US" sz="1050" dirty="0">
              <a:solidFill>
                <a:schemeClr val="bg1"/>
              </a:solidFill>
              <a:latin typeface="LG Smart UI Regular"/>
              <a:ea typeface="LG Smart UI Regular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0" y="1941106"/>
            <a:ext cx="347472" cy="384048"/>
          </a:xfrm>
          <a:prstGeom prst="chevron">
            <a:avLst/>
          </a:prstGeom>
          <a:solidFill>
            <a:srgbClr val="63C9CD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1616494"/>
            <a:ext cx="4206240" cy="10515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1" name="Text 9"/>
          <p:cNvSpPr/>
          <p:nvPr/>
        </p:nvSpPr>
        <p:spPr>
          <a:xfrm>
            <a:off x="3886200" y="163935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LG Smart UI Regular"/>
                <a:ea typeface="LG Smart UI Regular"/>
                <a:cs typeface="Pretendard" pitchFamily="34" charset="-120"/>
              </a:rPr>
              <a:t>처리 — 역할별 멀티 모델</a:t>
            </a:r>
            <a:endParaRPr lang="en-US" sz="1200" dirty="0">
              <a:solidFill>
                <a:schemeClr val="bg1"/>
              </a:solidFill>
              <a:latin typeface="LG Smart UI Regular"/>
              <a:ea typeface="LG Smart UI Regular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86200" y="1968538"/>
            <a:ext cx="1097280" cy="201168"/>
          </a:xfrm>
          <a:prstGeom prst="rect">
            <a:avLst/>
          </a:prstGeom>
          <a:solidFill>
            <a:srgbClr val="EAF3B2"/>
          </a:solidFill>
          <a:ln/>
        </p:spPr>
      </p:sp>
      <p:sp>
        <p:nvSpPr>
          <p:cNvPr id="13" name="Text 11"/>
          <p:cNvSpPr/>
          <p:nvPr/>
        </p:nvSpPr>
        <p:spPr>
          <a:xfrm>
            <a:off x="3886200" y="196853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Opus</a:t>
            </a:r>
            <a:endParaRPr lang="en-US" sz="1050" dirty="0">
              <a:solidFill>
                <a:schemeClr val="accent1">
                  <a:lumMod val="50000"/>
                </a:schemeClr>
              </a:solidFill>
              <a:latin typeface="LG Smart UI Regular"/>
              <a:ea typeface="LG Smart UI Regular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74920" y="196853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LG Smart UI Regular"/>
                <a:ea typeface="LG Smart UI Regular"/>
                <a:cs typeface="Pretendard" pitchFamily="34" charset="-120"/>
              </a:rPr>
              <a:t>핵심 세션 · 갈망 대화</a:t>
            </a:r>
            <a:endParaRPr lang="en-US" sz="1000" dirty="0">
              <a:solidFill>
                <a:schemeClr val="bg1"/>
              </a:solidFill>
              <a:latin typeface="LG Smart UI Regular"/>
              <a:ea typeface="LG Smart UI Regular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86200" y="2187994"/>
            <a:ext cx="1097280" cy="201168"/>
          </a:xfrm>
          <a:prstGeom prst="rect">
            <a:avLst/>
          </a:prstGeom>
          <a:solidFill>
            <a:srgbClr val="EAF3B2"/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0" y="218799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Sonnet</a:t>
            </a:r>
            <a:endParaRPr lang="en-US" sz="1050" dirty="0">
              <a:solidFill>
                <a:schemeClr val="accent1">
                  <a:lumMod val="50000"/>
                </a:schemeClr>
              </a:solidFill>
              <a:latin typeface="LG Smart UI Regular"/>
              <a:ea typeface="LG Smart UI Regular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74920" y="218799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LG Smart UI Regular"/>
                <a:ea typeface="LG Smart UI Regular"/>
                <a:cs typeface="Pretendard" pitchFamily="34" charset="-120"/>
              </a:rPr>
              <a:t>단계 판단 · 요약</a:t>
            </a:r>
            <a:endParaRPr lang="en-US" sz="1000" dirty="0">
              <a:solidFill>
                <a:schemeClr val="bg1"/>
              </a:solidFill>
              <a:latin typeface="LG Smart UI Regular"/>
              <a:ea typeface="LG Smart UI Regular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886200" y="2407450"/>
            <a:ext cx="1097280" cy="201168"/>
          </a:xfrm>
          <a:prstGeom prst="rect">
            <a:avLst/>
          </a:prstGeom>
          <a:solidFill>
            <a:srgbClr val="EAF3B2"/>
          </a:solidFill>
          <a:ln/>
        </p:spPr>
      </p:sp>
      <p:sp>
        <p:nvSpPr>
          <p:cNvPr id="19" name="Text 17"/>
          <p:cNvSpPr/>
          <p:nvPr/>
        </p:nvSpPr>
        <p:spPr>
          <a:xfrm>
            <a:off x="3886200" y="240745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Haiku</a:t>
            </a:r>
            <a:endParaRPr lang="en-US" sz="1050" dirty="0">
              <a:solidFill>
                <a:schemeClr val="accent1">
                  <a:lumMod val="50000"/>
                </a:schemeClr>
              </a:solidFill>
              <a:latin typeface="LG Smart UI Regular"/>
              <a:ea typeface="LG Smart UI Regular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74920" y="240745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LG Smart UI Regular"/>
                <a:ea typeface="LG Smart UI Regular"/>
                <a:cs typeface="Pretendard" pitchFamily="34" charset="-120"/>
              </a:rPr>
              <a:t>안전 분류 · 필터</a:t>
            </a:r>
            <a:endParaRPr lang="en-US" sz="1000" dirty="0">
              <a:solidFill>
                <a:schemeClr val="bg1"/>
              </a:solidFill>
              <a:latin typeface="LG Smart UI Regular"/>
              <a:ea typeface="LG Smart UI Regular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55280" y="1941106"/>
            <a:ext cx="347472" cy="384048"/>
          </a:xfrm>
          <a:prstGeom prst="chevron">
            <a:avLst/>
          </a:prstGeom>
          <a:solidFill>
            <a:srgbClr val="63C9CD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1616494"/>
            <a:ext cx="3017520" cy="105156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22792" y="1730794"/>
            <a:ext cx="411480" cy="4114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24" name="Text 22"/>
          <p:cNvSpPr/>
          <p:nvPr/>
        </p:nvSpPr>
        <p:spPr>
          <a:xfrm>
            <a:off x="9116568" y="173079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LG Smart UI Regular"/>
                <a:ea typeface="LG Smart UI Regular"/>
                <a:cs typeface="Pretendard" pitchFamily="34" charset="-120"/>
              </a:rPr>
              <a:t>출력</a:t>
            </a:r>
            <a:endParaRPr lang="en-US" sz="1400" dirty="0">
              <a:solidFill>
                <a:schemeClr val="bg1"/>
              </a:solidFill>
              <a:latin typeface="LG Smart UI Regular"/>
              <a:ea typeface="LG Smart UI Regular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622792" y="218799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LG Smart UI Regular"/>
                <a:ea typeface="LG Smart UI Regular"/>
                <a:cs typeface="Pretendard" pitchFamily="34" charset="-120"/>
              </a:rPr>
              <a:t>맞춤 CBT · 갈망 대처</a:t>
            </a:r>
            <a:endParaRPr lang="en-US" sz="1050" dirty="0">
              <a:solidFill>
                <a:schemeClr val="bg1"/>
              </a:solidFill>
              <a:latin typeface="LG Smart UI Regular"/>
              <a:ea typeface="LG Smart UI Regular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LG Smart UI Regular"/>
                <a:ea typeface="LG Smart UI Regular"/>
                <a:cs typeface="Pretendard" pitchFamily="34" charset="-120"/>
              </a:rPr>
              <a:t>위기 시 응급 안내</a:t>
            </a:r>
            <a:endParaRPr lang="en-US" sz="1050" dirty="0">
              <a:solidFill>
                <a:schemeClr val="bg1"/>
              </a:solidFill>
              <a:latin typeface="LG Smart UI Regular"/>
              <a:ea typeface="LG Smart UI Regular"/>
            </a:endParaRPr>
          </a:p>
        </p:txBody>
      </p:sp>
      <p:pic>
        <p:nvPicPr>
          <p:cNvPr id="27" name="Image 0" descr="assets/ss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484" y="2816351"/>
            <a:ext cx="1818065" cy="2834617"/>
          </a:xfrm>
          <a:prstGeom prst="rect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</p:pic>
      <p:sp>
        <p:nvSpPr>
          <p:cNvPr id="32" name="Text 27"/>
          <p:cNvSpPr/>
          <p:nvPr/>
        </p:nvSpPr>
        <p:spPr>
          <a:xfrm>
            <a:off x="952256" y="5803718"/>
            <a:ext cx="2248144" cy="292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① 환자 홈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987552" y="6059749"/>
            <a:ext cx="2248144" cy="273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B6B86"/>
                </a:solidFill>
                <a:latin typeface="LG Smart UI Regular"/>
                <a:ea typeface="LG Smart UI Regular"/>
              </a:rPr>
              <a:t>매일 체크인</a:t>
            </a:r>
            <a:r>
              <a:rPr lang="en-US" altLang="ko-KR" sz="1000" dirty="0">
                <a:solidFill>
                  <a:srgbClr val="5B6B86"/>
                </a:solidFill>
                <a:latin typeface="LG Smart UI Regular"/>
                <a:ea typeface="LG Smart UI Regular"/>
              </a:rPr>
              <a:t>, </a:t>
            </a:r>
            <a:r>
              <a:rPr lang="ko-KR" altLang="en-US" sz="1000" dirty="0">
                <a:solidFill>
                  <a:srgbClr val="5B6B86"/>
                </a:solidFill>
                <a:latin typeface="LG Smart UI Regular"/>
                <a:ea typeface="LG Smart UI Regular"/>
              </a:rPr>
              <a:t>핵심 대화</a:t>
            </a:r>
            <a:r>
              <a:rPr lang="en-US" altLang="ko-KR" sz="1000" dirty="0">
                <a:solidFill>
                  <a:srgbClr val="5B6B86"/>
                </a:solidFill>
                <a:latin typeface="LG Smart UI Regular"/>
                <a:ea typeface="LG Smart UI Regular"/>
              </a:rPr>
              <a:t>, </a:t>
            </a:r>
            <a:r>
              <a:rPr lang="ko-KR" altLang="en-US" sz="1000" dirty="0">
                <a:solidFill>
                  <a:srgbClr val="5B6B86"/>
                </a:solidFill>
                <a:latin typeface="LG Smart UI Regular"/>
                <a:ea typeface="LG Smart UI Regular"/>
              </a:rPr>
              <a:t>갈망 대화</a:t>
            </a:r>
            <a:endParaRPr lang="en-US" sz="1000" dirty="0">
              <a:latin typeface="LG Smart UI Regular"/>
              <a:ea typeface="LG Smart UI Regular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3074304" y="5803718"/>
            <a:ext cx="2248144" cy="292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② </a:t>
            </a:r>
            <a:r>
              <a:rPr lang="ko-KR" altLang="en-US" sz="1200" b="1" dirty="0">
                <a:solidFill>
                  <a:schemeClr val="accent1">
                    <a:lumMod val="75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대화 화면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LG Smart UI Regular"/>
              <a:ea typeface="LG Smart UI Regular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3009656" y="6059749"/>
            <a:ext cx="2248144" cy="273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LG Smart UI Regular"/>
              <a:ea typeface="LG Smart UI Regular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5387096" y="5803718"/>
            <a:ext cx="6255706" cy="292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③ 의료진 </a:t>
            </a:r>
            <a:r>
              <a:rPr lang="en-US" sz="1200" b="1" dirty="0" err="1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포털</a:t>
            </a:r>
            <a:r>
              <a:rPr lang="en-US" sz="12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5387096" y="6059749"/>
            <a:ext cx="6255706" cy="273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6"/>
                </a:solidFill>
                <a:latin typeface="LG Smart UI Regular"/>
                <a:ea typeface="LG Smart UI Regular"/>
                <a:cs typeface="Pretendard" pitchFamily="34" charset="-120"/>
              </a:rPr>
              <a:t>추이·안전 이벤트·LLM 안전 잠금</a:t>
            </a:r>
            <a:endParaRPr lang="en-US" sz="1000" dirty="0">
              <a:latin typeface="LG Smart UI Regular"/>
              <a:ea typeface="LG Smart UI Regular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3AE446FF-67A2-D94A-776B-2E0E38139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693" y="2816352"/>
            <a:ext cx="1936132" cy="2829730"/>
          </a:xfrm>
          <a:prstGeom prst="rect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7E7A5196-E87B-C9B7-8167-EF0A117A7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3710" y="2816352"/>
            <a:ext cx="2186239" cy="2840593"/>
          </a:xfrm>
          <a:prstGeom prst="rect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</p:pic>
      <p:pic>
        <p:nvPicPr>
          <p:cNvPr id="43" name="그림 42" descr="04-new-patient-d0.png">
            <a:extLst>
              <a:ext uri="{FF2B5EF4-FFF2-40B4-BE49-F238E27FC236}">
                <a16:creationId xmlns:a16="http://schemas.microsoft.com/office/drawing/2014/main" id="{B7CCEA1D-F698-389C-7128-3E72203DDB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5004" y="2816351"/>
            <a:ext cx="3023591" cy="2834617"/>
          </a:xfrm>
          <a:prstGeom prst="rect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</p:pic>
      <p:sp>
        <p:nvSpPr>
          <p:cNvPr id="26" name="Text 28">
            <a:extLst>
              <a:ext uri="{FF2B5EF4-FFF2-40B4-BE49-F238E27FC236}">
                <a16:creationId xmlns:a16="http://schemas.microsoft.com/office/drawing/2014/main" id="{B31AED99-8136-AFB6-8BF4-CFED1FDA6CD1}"/>
              </a:ext>
            </a:extLst>
          </p:cNvPr>
          <p:cNvSpPr/>
          <p:nvPr/>
        </p:nvSpPr>
        <p:spPr>
          <a:xfrm>
            <a:off x="3138952" y="6059749"/>
            <a:ext cx="2248144" cy="273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LG Smart UI Regular"/>
              <a:ea typeface="LG Smart UI Regula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order Frame"/>
          <p:cNvSpPr/>
          <p:nvPr/>
        </p:nvSpPr>
        <p:spPr>
          <a:xfrm>
            <a:off x="152400" y="152400"/>
            <a:ext cx="11899900" cy="6565900"/>
          </a:xfrm>
          <a:prstGeom prst="roundRect">
            <a:avLst>
              <a:gd name="adj" fmla="val 2200"/>
            </a:avLst>
          </a:prstGeom>
          <a:noFill/>
          <a:ln w="22225">
            <a:solidFill>
              <a:srgbClr val="63C9CD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" name="Shape 7"/>
          <p:cNvSpPr/>
          <p:nvPr/>
        </p:nvSpPr>
        <p:spPr>
          <a:xfrm>
            <a:off x="640080" y="2400300"/>
            <a:ext cx="5285232" cy="278892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50976" y="2711196"/>
            <a:ext cx="640080" cy="640080"/>
          </a:xfrm>
          <a:prstGeom prst="ellipse">
            <a:avLst/>
          </a:prstGeom>
          <a:solidFill>
            <a:srgbClr val="293960"/>
          </a:solidFill>
          <a:ln/>
          <a:effectLst>
            <a:outerShdw blurRad="88900" dist="25400" dir="5400000" algn="bl" rotWithShape="0">
              <a:srgbClr val="5B53A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icons/calenda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98" y="2884018"/>
            <a:ext cx="294437" cy="29443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37360" y="272948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3C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1회 · 예정된 만남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37360" y="2985516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93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구조화 </a:t>
            </a:r>
            <a:r>
              <a:rPr lang="en-US" sz="1900" b="1" dirty="0" err="1">
                <a:solidFill>
                  <a:srgbClr val="293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r>
              <a:rPr lang="en-US" sz="1900" b="1" dirty="0">
                <a:solidFill>
                  <a:srgbClr val="293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950976" y="3607308"/>
            <a:ext cx="4663440" cy="0"/>
          </a:xfrm>
          <a:prstGeom prst="line">
            <a:avLst/>
          </a:prstGeom>
          <a:noFill/>
          <a:ln w="12700">
            <a:solidFill>
              <a:srgbClr val="DC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1005840" y="3771900"/>
            <a:ext cx="4599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93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12주 프로그램 · 5단계 </a:t>
            </a:r>
            <a:r>
              <a:rPr lang="en-US" sz="1300" dirty="0" err="1">
                <a:solidFill>
                  <a:srgbClr val="293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r>
              <a:rPr lang="en-US" sz="1300" dirty="0">
                <a:solidFill>
                  <a:srgbClr val="293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293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흐름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09360" y="2400300"/>
            <a:ext cx="5285232" cy="278892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6620256" y="2711196"/>
            <a:ext cx="640080" cy="640080"/>
          </a:xfrm>
          <a:prstGeom prst="ellipse">
            <a:avLst/>
          </a:prstGeom>
          <a:solidFill>
            <a:srgbClr val="293960"/>
          </a:solidFill>
          <a:ln/>
          <a:effectLst>
            <a:outerShdw blurRad="88900" dist="25400" dir="5400000" algn="bl" rotWithShape="0">
              <a:srgbClr val="5B53A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icons/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78" y="2884018"/>
            <a:ext cx="294437" cy="29443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06640" y="272948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3C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24시간 · 필요한 바로 그 순간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406640" y="2985516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93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갈망 대응 모드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6620256" y="3607308"/>
            <a:ext cx="4663440" cy="0"/>
          </a:xfrm>
          <a:prstGeom prst="line">
            <a:avLst/>
          </a:prstGeom>
          <a:noFill/>
          <a:ln w="12700">
            <a:solidFill>
              <a:srgbClr val="DCE6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6675120" y="3771900"/>
            <a:ext cx="4599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93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갈망 · 위기의 </a:t>
            </a:r>
            <a:r>
              <a:rPr lang="en-US" sz="1300" dirty="0" err="1">
                <a:solidFill>
                  <a:srgbClr val="293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순간</a:t>
            </a:r>
            <a:r>
              <a:rPr lang="en-US" sz="1300" dirty="0">
                <a:solidFill>
                  <a:srgbClr val="293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293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</a:t>
            </a:r>
            <a:r>
              <a:rPr lang="ko-KR" altLang="en-US" sz="1300" dirty="0">
                <a:solidFill>
                  <a:srgbClr val="2939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대화</a:t>
            </a:r>
            <a:endParaRPr lang="en-US" sz="130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E266868-08E0-E3B9-6983-F6026ABB06C1}"/>
              </a:ext>
            </a:extLst>
          </p:cNvPr>
          <p:cNvSpPr/>
          <p:nvPr/>
        </p:nvSpPr>
        <p:spPr>
          <a:xfrm>
            <a:off x="640080" y="4754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3C9CD"/>
                </a:solidFill>
                <a:latin typeface="LG Smart UI Regular"/>
                <a:ea typeface="LG Smart UI Regular"/>
              </a:rPr>
              <a:t>PRODUCT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23BD6BE-C91F-FCA7-66C8-9DED4A74F0B5}"/>
              </a:ext>
            </a:extLst>
          </p:cNvPr>
          <p:cNvSpPr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매주 한 번의 메인 대화</a:t>
            </a:r>
            <a:r>
              <a:rPr lang="en-US" altLang="ko-KR" sz="34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, </a:t>
            </a:r>
            <a:r>
              <a:rPr lang="ko-KR" altLang="en-US" sz="34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그리고 위기의 순간 언제든</a:t>
            </a:r>
            <a:endParaRPr lang="en-US" sz="3400" b="1" dirty="0">
              <a:latin typeface="LG Smart UI Regular"/>
              <a:ea typeface="LG Smart UI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410322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rot="21172939">
            <a:off x="-1415235" y="-594129"/>
            <a:ext cx="4708611" cy="8046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  <a:prstDash val="lgDashDot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515265" y="2866523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12 </a:t>
            </a:r>
            <a:r>
              <a:rPr lang="ko-KR" altLang="en-US" sz="28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주 동안</a:t>
            </a:r>
            <a:r>
              <a:rPr lang="en-US" altLang="ko-KR" sz="28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     총 네 단계로</a:t>
            </a:r>
            <a:endParaRPr lang="en-US" altLang="ko-KR" sz="2800" b="1" dirty="0">
              <a:solidFill>
                <a:srgbClr val="293960"/>
              </a:solidFill>
              <a:latin typeface="LG Smart UI Regular"/>
              <a:ea typeface="LG Smart UI Regula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spc="300" dirty="0">
                <a:solidFill>
                  <a:srgbClr val="293960"/>
                </a:solidFill>
                <a:latin typeface="LG Smart UI Regular"/>
                <a:ea typeface="LG Smart UI Regular"/>
              </a:rPr>
              <a:t>일주일에 한 번 </a:t>
            </a:r>
            <a:endParaRPr lang="en-US" altLang="ko-KR" sz="2400" b="1" spc="300" dirty="0">
              <a:solidFill>
                <a:srgbClr val="293960"/>
              </a:solidFill>
              <a:latin typeface="LG Smart UI Regular"/>
              <a:ea typeface="LG Smart UI Regular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spc="300" dirty="0">
                <a:solidFill>
                  <a:srgbClr val="293960"/>
                </a:solidFill>
                <a:latin typeface="LG Smart UI Regular"/>
                <a:ea typeface="LG Smart UI Regular"/>
              </a:rPr>
              <a:t>   </a:t>
            </a:r>
          </a:p>
        </p:txBody>
      </p:sp>
      <p:sp>
        <p:nvSpPr>
          <p:cNvPr id="7" name="Text 5"/>
          <p:cNvSpPr/>
          <p:nvPr/>
        </p:nvSpPr>
        <p:spPr>
          <a:xfrm>
            <a:off x="4663440" y="822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3C9CD"/>
                </a:solidFill>
                <a:latin typeface="LG Smart UI Regular"/>
                <a:ea typeface="LG Smart UI Regular"/>
                <a:cs typeface="Pretendard ExtraBold" pitchFamily="34" charset="-120"/>
              </a:rPr>
              <a:t>01.</a:t>
            </a:r>
            <a:endParaRPr lang="en-US" sz="2400" dirty="0">
              <a:latin typeface="LG Smart UI Regular"/>
              <a:ea typeface="LG Smart UI Regular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23560" y="8046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 err="1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동기</a:t>
            </a:r>
            <a:r>
              <a:rPr lang="en-US" sz="2200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 : </a:t>
            </a:r>
            <a:r>
              <a:rPr lang="ko-KR" altLang="en-US" sz="2200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왜 끊는가</a:t>
            </a:r>
            <a:endParaRPr lang="en-US" sz="2200" dirty="0">
              <a:latin typeface="LG Smart UI Regular"/>
              <a:ea typeface="LG Smart UI Regular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50992" y="1325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1주</a:t>
            </a:r>
            <a:endParaRPr lang="en-US" sz="1250" dirty="0">
              <a:latin typeface="LG Smart UI Regular"/>
              <a:ea typeface="LG Smart UI Regular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50992" y="16093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6"/>
                </a:solidFill>
                <a:latin typeface="LG Smart UI Regular"/>
                <a:ea typeface="LG Smart UI Regular"/>
                <a:cs typeface="Pretendard" pitchFamily="34" charset="-120"/>
              </a:rPr>
              <a:t>단주 동기 재확인·라포</a:t>
            </a:r>
            <a:endParaRPr lang="en-US" sz="1250" dirty="0">
              <a:latin typeface="LG Smart UI Regular"/>
              <a:ea typeface="LG Smart UI Regular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83480" y="1389888"/>
            <a:ext cx="0" cy="749808"/>
          </a:xfrm>
          <a:prstGeom prst="line">
            <a:avLst/>
          </a:prstGeom>
          <a:noFill/>
          <a:ln w="19050">
            <a:solidFill>
              <a:srgbClr val="2939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3C9CD"/>
                </a:solidFill>
                <a:latin typeface="LG Smart UI Regular"/>
                <a:ea typeface="LG Smart UI Regular"/>
                <a:cs typeface="Pretendard ExtraBold" pitchFamily="34" charset="-120"/>
              </a:rPr>
              <a:t>02.</a:t>
            </a:r>
            <a:endParaRPr lang="en-US" sz="2400" dirty="0">
              <a:latin typeface="LG Smart UI Regular"/>
              <a:ea typeface="LG Smart UI Regular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23560" y="21762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 err="1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분석</a:t>
            </a:r>
            <a:r>
              <a:rPr lang="en-US" sz="2200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 : </a:t>
            </a:r>
            <a:r>
              <a:rPr lang="ko-KR" altLang="en-US" sz="2200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무엇이 나를 마시게 하는가</a:t>
            </a:r>
            <a:endParaRPr lang="en-US" sz="2200" dirty="0">
              <a:latin typeface="LG Smart UI Regular"/>
              <a:ea typeface="LG Smart UI Regular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50992" y="2697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2</a:t>
            </a:r>
            <a:r>
              <a:rPr lang="en-US" altLang="ko-KR" sz="1250" b="1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–</a:t>
            </a:r>
            <a:r>
              <a:rPr lang="en-US" sz="1250" b="1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3주</a:t>
            </a:r>
            <a:endParaRPr lang="en-US" sz="1250" dirty="0">
              <a:latin typeface="LG Smart UI Regular"/>
              <a:ea typeface="LG Smart UI Regular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50992" y="29809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6"/>
                </a:solidFill>
                <a:latin typeface="LG Smart UI Regular"/>
                <a:ea typeface="LG Smart UI Regular"/>
                <a:cs typeface="Pretendard" pitchFamily="34" charset="-120"/>
              </a:rPr>
              <a:t>음주 패턴·고위험 상황 분석</a:t>
            </a:r>
            <a:endParaRPr lang="en-US" sz="1250" dirty="0">
              <a:latin typeface="LG Smart UI Regular"/>
              <a:ea typeface="LG Smart UI Regular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983480" y="2761488"/>
            <a:ext cx="0" cy="749808"/>
          </a:xfrm>
          <a:prstGeom prst="line">
            <a:avLst/>
          </a:prstGeom>
          <a:noFill/>
          <a:ln w="19050">
            <a:solidFill>
              <a:srgbClr val="2939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566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3C9CD"/>
                </a:solidFill>
                <a:latin typeface="LG Smart UI Regular"/>
                <a:ea typeface="LG Smart UI Regular"/>
                <a:cs typeface="Pretendard ExtraBold" pitchFamily="34" charset="-120"/>
              </a:rPr>
              <a:t>03.</a:t>
            </a:r>
            <a:endParaRPr lang="en-US" sz="2400" dirty="0">
              <a:latin typeface="LG Smart UI Regular"/>
              <a:ea typeface="LG Smart UI Regular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23560" y="3582101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 err="1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기술</a:t>
            </a:r>
            <a:r>
              <a:rPr lang="en-US" sz="2200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 </a:t>
            </a:r>
            <a:r>
              <a:rPr lang="en-US" sz="2200" dirty="0" err="1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훈련</a:t>
            </a:r>
            <a:r>
              <a:rPr lang="en-US" sz="2200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 : </a:t>
            </a:r>
            <a:r>
              <a:rPr lang="ko-KR" altLang="en-US" sz="2200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어떻게 막을 것인가</a:t>
            </a:r>
            <a:endParaRPr lang="en-US" sz="2200" dirty="0">
              <a:latin typeface="LG Smart UI Regular"/>
              <a:ea typeface="LG Smart UI Regular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50992" y="4103309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4–11주</a:t>
            </a:r>
            <a:endParaRPr lang="en-US" sz="1250" dirty="0">
              <a:latin typeface="LG Smart UI Regular"/>
              <a:ea typeface="LG Smart UI Regular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50992" y="4386773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5B6B86"/>
                </a:solidFill>
                <a:latin typeface="LG Smart UI Regular"/>
                <a:ea typeface="LG Smart UI Regular"/>
                <a:cs typeface="Pretendard" pitchFamily="34" charset="-120"/>
              </a:rPr>
              <a:t>거절·갈망·대처</a:t>
            </a:r>
            <a:r>
              <a:rPr lang="en-US" sz="1250" dirty="0">
                <a:solidFill>
                  <a:srgbClr val="5B6B86"/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1250" dirty="0" err="1">
                <a:solidFill>
                  <a:srgbClr val="5B6B86"/>
                </a:solidFill>
                <a:latin typeface="LG Smart UI Regular"/>
                <a:ea typeface="LG Smart UI Regular"/>
                <a:cs typeface="Pretendard" pitchFamily="34" charset="-120"/>
              </a:rPr>
              <a:t>기술</a:t>
            </a:r>
            <a:endParaRPr lang="en-US" sz="1250" dirty="0">
              <a:latin typeface="LG Smart UI Regular"/>
              <a:ea typeface="LG Smart UI Regular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983480" y="4133088"/>
            <a:ext cx="0" cy="749808"/>
          </a:xfrm>
          <a:prstGeom prst="line">
            <a:avLst/>
          </a:prstGeom>
          <a:noFill/>
          <a:ln w="19050">
            <a:solidFill>
              <a:srgbClr val="2939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937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3C9CD"/>
                </a:solidFill>
                <a:latin typeface="LG Smart UI Regular"/>
                <a:ea typeface="LG Smart UI Regular"/>
                <a:cs typeface="Pretendard ExtraBold" pitchFamily="34" charset="-120"/>
              </a:rPr>
              <a:t>04.</a:t>
            </a:r>
            <a:endParaRPr lang="en-US" sz="2400" dirty="0">
              <a:latin typeface="LG Smart UI Regular"/>
              <a:ea typeface="LG Smart UI Regular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23560" y="4953701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종결</a:t>
            </a:r>
            <a:endParaRPr lang="en-US" sz="2200" dirty="0">
              <a:latin typeface="LG Smart UI Regular"/>
              <a:ea typeface="LG Smart UI Regular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50992" y="5474909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12주</a:t>
            </a:r>
            <a:endParaRPr lang="en-US" sz="1250" dirty="0">
              <a:latin typeface="LG Smart UI Regular"/>
              <a:ea typeface="LG Smart UI Regular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50992" y="5758373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6"/>
                </a:solidFill>
                <a:latin typeface="LG Smart UI Regular"/>
                <a:ea typeface="LG Smart UI Regular"/>
                <a:cs typeface="Pretendard" pitchFamily="34" charset="-120"/>
              </a:rPr>
              <a:t>유지·재발방지 계획</a:t>
            </a:r>
            <a:endParaRPr lang="en-US" sz="1250" dirty="0">
              <a:latin typeface="LG Smart UI Regular"/>
              <a:ea typeface="LG Smart UI Regular"/>
            </a:endParaRPr>
          </a:p>
        </p:txBody>
      </p:sp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22225">
            <a:solidFill>
              <a:srgbClr val="63C9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5408222"/>
            <a:ext cx="2377440" cy="2377440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293960"/>
            </a:solidFill>
            <a:prstDash val="lgDashDot"/>
          </a:ln>
        </p:spPr>
      </p:sp>
      <p:sp>
        <p:nvSpPr>
          <p:cNvPr id="4" name="Shape 2"/>
          <p:cNvSpPr/>
          <p:nvPr/>
        </p:nvSpPr>
        <p:spPr>
          <a:xfrm>
            <a:off x="76334" y="-182880"/>
            <a:ext cx="2377440" cy="2377440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293960"/>
            </a:solidFill>
            <a:prstDash val="lgDashDot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22225">
            <a:solidFill>
              <a:srgbClr val="63C9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3C9CD"/>
                </a:solidFill>
                <a:latin typeface="LG Smart UI Regular"/>
                <a:ea typeface="LG Smart UI Regular"/>
              </a:rPr>
              <a:t>PRODUCT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단순 대화가 아닌 </a:t>
            </a:r>
            <a:r>
              <a:rPr lang="en-US" sz="3400" b="1" dirty="0" err="1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구조화된</a:t>
            </a:r>
            <a:r>
              <a:rPr lang="en-US" sz="3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 5단계 세션</a:t>
            </a:r>
            <a:endParaRPr lang="en-US" sz="3400" b="1" dirty="0">
              <a:latin typeface="LG Smart UI Regular"/>
              <a:ea typeface="LG Smart UI Regular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27892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6"/>
                </a:solidFill>
                <a:latin typeface="LG Smart UI Regular"/>
                <a:ea typeface="LG Smart UI Regular"/>
                <a:cs typeface="Pretendard" pitchFamily="34" charset="-120"/>
              </a:rPr>
              <a:t>전통 CBT 회기 (Project MATCH)</a:t>
            </a:r>
            <a:endParaRPr lang="en-US" sz="1300" dirty="0">
              <a:latin typeface="LG Smart UI Regular"/>
              <a:ea typeface="LG Smart UI Regular"/>
            </a:endParaRPr>
          </a:p>
        </p:txBody>
      </p:sp>
      <p:sp>
        <p:nvSpPr>
          <p:cNvPr id="6" name="Text 4"/>
          <p:cNvSpPr/>
          <p:nvPr/>
        </p:nvSpPr>
        <p:spPr>
          <a:xfrm>
            <a:off x="4464008" y="2017130"/>
            <a:ext cx="3263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본 앱 5단계</a:t>
            </a:r>
            <a:endParaRPr lang="en-US" sz="1300" dirty="0">
              <a:latin typeface="LG Smart UI Regular"/>
              <a:ea typeface="LG Smart UI Regular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2789223" cy="658368"/>
          </a:xfrm>
          <a:prstGeom prst="rect">
            <a:avLst/>
          </a:prstGeom>
          <a:solidFill>
            <a:srgbClr val="F7FFE7"/>
          </a:solidFill>
          <a:ln w="15875">
            <a:solidFill>
              <a:srgbClr val="293960"/>
            </a:solidFill>
            <a:prstDash val="solid"/>
          </a:ln>
        </p:spPr>
        <p:txBody>
          <a:bodyPr/>
          <a:lstStyle/>
          <a:p>
            <a:endParaRPr lang="ko-KR" altLang="en-US" b="1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55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도입 · 한 주 점검</a:t>
            </a:r>
            <a:endParaRPr lang="en-US" sz="1300" b="1" dirty="0">
              <a:latin typeface="LG Smart UI Regular"/>
              <a:ea typeface="LG Smart UI Regular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934945" y="2578608"/>
            <a:ext cx="267053" cy="438912"/>
          </a:xfrm>
          <a:prstGeom prst="chevron">
            <a:avLst/>
          </a:prstGeom>
          <a:solidFill>
            <a:srgbClr val="63C9CD"/>
          </a:solidFill>
          <a:ln/>
        </p:spPr>
        <p:txBody>
          <a:bodyPr/>
          <a:lstStyle/>
          <a:p>
            <a:endParaRPr lang="ko-KR" altLang="en-US" b="1"/>
          </a:p>
        </p:txBody>
      </p:sp>
      <p:sp>
        <p:nvSpPr>
          <p:cNvPr id="10" name="Shape 8"/>
          <p:cNvSpPr/>
          <p:nvPr/>
        </p:nvSpPr>
        <p:spPr>
          <a:xfrm>
            <a:off x="4464008" y="2474330"/>
            <a:ext cx="3263984" cy="658368"/>
          </a:xfrm>
          <a:prstGeom prst="rect">
            <a:avLst/>
          </a:prstGeom>
          <a:solidFill>
            <a:srgbClr val="ECEFF4"/>
          </a:solidFill>
          <a:ln/>
        </p:spPr>
        <p:txBody>
          <a:bodyPr/>
          <a:lstStyle/>
          <a:p>
            <a:endParaRPr lang="ko-KR" altLang="en-US" b="1"/>
          </a:p>
        </p:txBody>
      </p:sp>
      <p:sp>
        <p:nvSpPr>
          <p:cNvPr id="11" name="Text 9"/>
          <p:cNvSpPr/>
          <p:nvPr/>
        </p:nvSpPr>
        <p:spPr>
          <a:xfrm>
            <a:off x="4692608" y="2474330"/>
            <a:ext cx="302660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① 체크인 리뷰</a:t>
            </a:r>
            <a:endParaRPr lang="en-US" sz="1300" b="1" dirty="0">
              <a:latin typeface="LG Smart UI Regular"/>
              <a:ea typeface="LG Smart UI Regular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" y="3291840"/>
            <a:ext cx="2789223" cy="658368"/>
          </a:xfrm>
          <a:prstGeom prst="rect">
            <a:avLst/>
          </a:prstGeom>
          <a:solidFill>
            <a:srgbClr val="F7FFE7"/>
          </a:solidFill>
          <a:ln w="15875">
            <a:solidFill>
              <a:srgbClr val="293960"/>
            </a:solidFill>
            <a:prstDash val="solid"/>
          </a:ln>
        </p:spPr>
        <p:txBody>
          <a:bodyPr/>
          <a:lstStyle/>
          <a:p>
            <a:endParaRPr lang="ko-KR" altLang="en-US" b="1"/>
          </a:p>
        </p:txBody>
      </p:sp>
      <p:sp>
        <p:nvSpPr>
          <p:cNvPr id="13" name="Text 11"/>
          <p:cNvSpPr/>
          <p:nvPr/>
        </p:nvSpPr>
        <p:spPr>
          <a:xfrm>
            <a:off x="1005840" y="3291840"/>
            <a:ext cx="255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지난 회기 기술·과제 검토</a:t>
            </a:r>
            <a:endParaRPr lang="en-US" sz="1300" b="1" dirty="0">
              <a:latin typeface="LG Smart UI Regular"/>
              <a:ea typeface="LG Smart UI Regular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934945" y="3401568"/>
            <a:ext cx="267053" cy="438912"/>
          </a:xfrm>
          <a:prstGeom prst="chevron">
            <a:avLst/>
          </a:prstGeom>
          <a:solidFill>
            <a:srgbClr val="63C9CD"/>
          </a:solidFill>
          <a:ln/>
        </p:spPr>
        <p:txBody>
          <a:bodyPr/>
          <a:lstStyle/>
          <a:p>
            <a:endParaRPr lang="ko-KR" altLang="en-US" b="1"/>
          </a:p>
        </p:txBody>
      </p:sp>
      <p:sp>
        <p:nvSpPr>
          <p:cNvPr id="15" name="Shape 13"/>
          <p:cNvSpPr/>
          <p:nvPr/>
        </p:nvSpPr>
        <p:spPr>
          <a:xfrm>
            <a:off x="4464008" y="3297290"/>
            <a:ext cx="3263984" cy="658368"/>
          </a:xfrm>
          <a:prstGeom prst="rect">
            <a:avLst/>
          </a:prstGeom>
          <a:solidFill>
            <a:srgbClr val="ECEFF4"/>
          </a:solidFill>
          <a:ln/>
        </p:spPr>
        <p:txBody>
          <a:bodyPr/>
          <a:lstStyle/>
          <a:p>
            <a:endParaRPr lang="ko-KR" altLang="en-US" b="1"/>
          </a:p>
        </p:txBody>
      </p:sp>
      <p:sp>
        <p:nvSpPr>
          <p:cNvPr id="16" name="Text 14"/>
          <p:cNvSpPr/>
          <p:nvPr/>
        </p:nvSpPr>
        <p:spPr>
          <a:xfrm>
            <a:off x="4692608" y="3297290"/>
            <a:ext cx="302660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② 지난 주 과제 리뷰</a:t>
            </a:r>
            <a:endParaRPr lang="en-US" sz="1300" b="1" dirty="0">
              <a:latin typeface="LG Smart UI Regular"/>
              <a:ea typeface="LG Smart UI Regular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7240" y="4114800"/>
            <a:ext cx="2789223" cy="658368"/>
          </a:xfrm>
          <a:prstGeom prst="rect">
            <a:avLst/>
          </a:prstGeom>
          <a:solidFill>
            <a:srgbClr val="F7FFE7"/>
          </a:solidFill>
          <a:ln w="15875">
            <a:solidFill>
              <a:srgbClr val="293960"/>
            </a:solidFill>
            <a:prstDash val="solid"/>
          </a:ln>
        </p:spPr>
        <p:txBody>
          <a:bodyPr/>
          <a:lstStyle/>
          <a:p>
            <a:endParaRPr lang="ko-KR" altLang="en-US" b="1"/>
          </a:p>
        </p:txBody>
      </p:sp>
      <p:sp>
        <p:nvSpPr>
          <p:cNvPr id="18" name="Text 16"/>
          <p:cNvSpPr/>
          <p:nvPr/>
        </p:nvSpPr>
        <p:spPr>
          <a:xfrm>
            <a:off x="1005840" y="4114800"/>
            <a:ext cx="255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새 기술 근거·지침 제시</a:t>
            </a:r>
            <a:endParaRPr lang="en-US" sz="1300" b="1" dirty="0">
              <a:latin typeface="LG Smart UI Regular"/>
              <a:ea typeface="LG Smart UI Regular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934945" y="4224528"/>
            <a:ext cx="267053" cy="438912"/>
          </a:xfrm>
          <a:prstGeom prst="chevron">
            <a:avLst/>
          </a:prstGeom>
          <a:solidFill>
            <a:srgbClr val="63C9CD"/>
          </a:solidFill>
          <a:ln/>
        </p:spPr>
        <p:txBody>
          <a:bodyPr/>
          <a:lstStyle/>
          <a:p>
            <a:endParaRPr lang="ko-KR" altLang="en-US" b="1"/>
          </a:p>
        </p:txBody>
      </p:sp>
      <p:sp>
        <p:nvSpPr>
          <p:cNvPr id="20" name="Shape 18"/>
          <p:cNvSpPr/>
          <p:nvPr/>
        </p:nvSpPr>
        <p:spPr>
          <a:xfrm>
            <a:off x="4464008" y="4120250"/>
            <a:ext cx="3263984" cy="658368"/>
          </a:xfrm>
          <a:prstGeom prst="rect">
            <a:avLst/>
          </a:prstGeom>
          <a:solidFill>
            <a:srgbClr val="ECEFF4"/>
          </a:solidFill>
          <a:ln/>
        </p:spPr>
        <p:txBody>
          <a:bodyPr/>
          <a:lstStyle/>
          <a:p>
            <a:endParaRPr lang="ko-KR" altLang="en-US" b="1"/>
          </a:p>
        </p:txBody>
      </p:sp>
      <p:sp>
        <p:nvSpPr>
          <p:cNvPr id="21" name="Text 19"/>
          <p:cNvSpPr/>
          <p:nvPr/>
        </p:nvSpPr>
        <p:spPr>
          <a:xfrm>
            <a:off x="4692608" y="4120250"/>
            <a:ext cx="302660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③ 핵심 콘텐츠 전달</a:t>
            </a:r>
            <a:endParaRPr lang="en-US" sz="1300" b="1" dirty="0">
              <a:latin typeface="LG Smart UI Regular"/>
              <a:ea typeface="LG Smart UI Regular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77240" y="4937760"/>
            <a:ext cx="2789223" cy="658368"/>
          </a:xfrm>
          <a:prstGeom prst="rect">
            <a:avLst/>
          </a:prstGeom>
          <a:solidFill>
            <a:srgbClr val="F7FFE7"/>
          </a:solidFill>
          <a:ln w="15875">
            <a:solidFill>
              <a:srgbClr val="293960"/>
            </a:solidFill>
            <a:prstDash val="solid"/>
          </a:ln>
        </p:spPr>
        <p:txBody>
          <a:bodyPr/>
          <a:lstStyle/>
          <a:p>
            <a:endParaRPr lang="ko-KR" altLang="en-US" b="1"/>
          </a:p>
        </p:txBody>
      </p:sp>
      <p:sp>
        <p:nvSpPr>
          <p:cNvPr id="23" name="Text 21"/>
          <p:cNvSpPr/>
          <p:nvPr/>
        </p:nvSpPr>
        <p:spPr>
          <a:xfrm>
            <a:off x="1005840" y="4937760"/>
            <a:ext cx="255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치료사 시연 → 역할극</a:t>
            </a:r>
            <a:endParaRPr lang="en-US" sz="1300" b="1" dirty="0">
              <a:latin typeface="LG Smart UI Regular"/>
              <a:ea typeface="LG Smart UI Regular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934945" y="5047488"/>
            <a:ext cx="267053" cy="438912"/>
          </a:xfrm>
          <a:prstGeom prst="chevron">
            <a:avLst/>
          </a:prstGeom>
          <a:solidFill>
            <a:srgbClr val="63C9CD"/>
          </a:solidFill>
          <a:ln/>
        </p:spPr>
        <p:txBody>
          <a:bodyPr/>
          <a:lstStyle/>
          <a:p>
            <a:endParaRPr lang="ko-KR" altLang="en-US" b="1"/>
          </a:p>
        </p:txBody>
      </p:sp>
      <p:sp>
        <p:nvSpPr>
          <p:cNvPr id="25" name="Shape 23"/>
          <p:cNvSpPr/>
          <p:nvPr/>
        </p:nvSpPr>
        <p:spPr>
          <a:xfrm>
            <a:off x="4464008" y="4943210"/>
            <a:ext cx="3263984" cy="658368"/>
          </a:xfrm>
          <a:prstGeom prst="rect">
            <a:avLst/>
          </a:prstGeom>
          <a:solidFill>
            <a:srgbClr val="293960"/>
          </a:solidFill>
          <a:ln/>
        </p:spPr>
        <p:txBody>
          <a:bodyPr/>
          <a:lstStyle/>
          <a:p>
            <a:endParaRPr lang="ko-KR" altLang="en-US" b="1"/>
          </a:p>
        </p:txBody>
      </p:sp>
      <p:sp>
        <p:nvSpPr>
          <p:cNvPr id="26" name="Text 24"/>
          <p:cNvSpPr/>
          <p:nvPr/>
        </p:nvSpPr>
        <p:spPr>
          <a:xfrm>
            <a:off x="4692608" y="4943210"/>
            <a:ext cx="302660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3B2"/>
                </a:solidFill>
                <a:latin typeface="LG Smart UI Regular"/>
                <a:ea typeface="LG Smart UI Regular"/>
                <a:cs typeface="Pretendard" pitchFamily="34" charset="-120"/>
              </a:rPr>
              <a:t>④ 개인화 적용 — 실제 상황을 ABC로</a:t>
            </a:r>
            <a:endParaRPr lang="en-US" sz="1300" b="1" dirty="0">
              <a:latin typeface="LG Smart UI Regular"/>
              <a:ea typeface="LG Smart UI Regular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77240" y="5760720"/>
            <a:ext cx="2789223" cy="658368"/>
          </a:xfrm>
          <a:prstGeom prst="rect">
            <a:avLst/>
          </a:prstGeom>
          <a:solidFill>
            <a:srgbClr val="F7FFE7"/>
          </a:solidFill>
          <a:ln w="15875">
            <a:solidFill>
              <a:srgbClr val="293960"/>
            </a:solidFill>
            <a:prstDash val="solid"/>
          </a:ln>
        </p:spPr>
        <p:txBody>
          <a:bodyPr/>
          <a:lstStyle/>
          <a:p>
            <a:endParaRPr lang="ko-KR" altLang="en-US" b="1"/>
          </a:p>
        </p:txBody>
      </p:sp>
      <p:sp>
        <p:nvSpPr>
          <p:cNvPr id="28" name="Text 26"/>
          <p:cNvSpPr/>
          <p:nvPr/>
        </p:nvSpPr>
        <p:spPr>
          <a:xfrm>
            <a:off x="1005840" y="5760720"/>
            <a:ext cx="255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다음 회기 과제 부여</a:t>
            </a:r>
            <a:endParaRPr lang="en-US" sz="1300" b="1" dirty="0">
              <a:latin typeface="LG Smart UI Regular"/>
              <a:ea typeface="LG Smart UI Regular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934945" y="5870448"/>
            <a:ext cx="267053" cy="438912"/>
          </a:xfrm>
          <a:prstGeom prst="chevron">
            <a:avLst/>
          </a:prstGeom>
          <a:solidFill>
            <a:srgbClr val="63C9CD"/>
          </a:solidFill>
          <a:ln/>
        </p:spPr>
        <p:txBody>
          <a:bodyPr/>
          <a:lstStyle/>
          <a:p>
            <a:endParaRPr lang="ko-KR" altLang="en-US" b="1"/>
          </a:p>
        </p:txBody>
      </p:sp>
      <p:sp>
        <p:nvSpPr>
          <p:cNvPr id="30" name="Shape 28"/>
          <p:cNvSpPr/>
          <p:nvPr/>
        </p:nvSpPr>
        <p:spPr>
          <a:xfrm>
            <a:off x="4464008" y="5766170"/>
            <a:ext cx="3263984" cy="658368"/>
          </a:xfrm>
          <a:prstGeom prst="rect">
            <a:avLst/>
          </a:prstGeom>
          <a:solidFill>
            <a:srgbClr val="ECEFF4"/>
          </a:solidFill>
          <a:ln/>
        </p:spPr>
        <p:txBody>
          <a:bodyPr/>
          <a:lstStyle/>
          <a:p>
            <a:endParaRPr lang="ko-KR" altLang="en-US" b="1"/>
          </a:p>
        </p:txBody>
      </p:sp>
      <p:sp>
        <p:nvSpPr>
          <p:cNvPr id="31" name="Text 29"/>
          <p:cNvSpPr/>
          <p:nvPr/>
        </p:nvSpPr>
        <p:spPr>
          <a:xfrm>
            <a:off x="4692608" y="5766170"/>
            <a:ext cx="302660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⑤ 이번 주 과제</a:t>
            </a:r>
            <a:endParaRPr lang="en-US" sz="1300" b="1" dirty="0">
              <a:latin typeface="LG Smart UI Regular"/>
              <a:ea typeface="LG Smart UI Regular"/>
            </a:endParaRPr>
          </a:p>
        </p:txBody>
      </p:sp>
      <p:sp>
        <p:nvSpPr>
          <p:cNvPr id="100" name="Chat Panel"/>
          <p:cNvSpPr/>
          <p:nvPr/>
        </p:nvSpPr>
        <p:spPr>
          <a:xfrm>
            <a:off x="7905491" y="2006600"/>
            <a:ext cx="3962400" cy="4368800"/>
          </a:xfrm>
          <a:prstGeom prst="roundRect">
            <a:avLst>
              <a:gd name="adj" fmla="val 4000"/>
            </a:avLst>
          </a:prstGeom>
          <a:solidFill>
            <a:srgbClr val="1E2740"/>
          </a:solidFill>
          <a:ln w="12700">
            <a:solidFill>
              <a:srgbClr val="4A568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06" name="Accent Bar 106"/>
          <p:cNvSpPr/>
          <p:nvPr/>
        </p:nvSpPr>
        <p:spPr>
          <a:xfrm>
            <a:off x="8013700" y="3420000"/>
            <a:ext cx="38100" cy="480000"/>
          </a:xfrm>
          <a:prstGeom prst="rect">
            <a:avLst/>
          </a:prstGeom>
          <a:solidFill>
            <a:srgbClr val="79C6C2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sz="2000"/>
          </a:p>
        </p:txBody>
      </p:sp>
      <p:sp>
        <p:nvSpPr>
          <p:cNvPr id="107" name="Accent Bar 107"/>
          <p:cNvSpPr/>
          <p:nvPr/>
        </p:nvSpPr>
        <p:spPr>
          <a:xfrm>
            <a:off x="8013699" y="4660000"/>
            <a:ext cx="45719" cy="1150000"/>
          </a:xfrm>
          <a:prstGeom prst="rect">
            <a:avLst/>
          </a:prstGeom>
          <a:solidFill>
            <a:srgbClr val="79C6C2"/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sz="2000"/>
          </a:p>
        </p:txBody>
      </p:sp>
      <p:sp>
        <p:nvSpPr>
          <p:cNvPr id="101" name="Chat Header"/>
          <p:cNvSpPr txBox="1"/>
          <p:nvPr/>
        </p:nvSpPr>
        <p:spPr>
          <a:xfrm>
            <a:off x="8115300" y="2098582"/>
            <a:ext cx="3530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200" b="1" spc="100" dirty="0">
                <a:solidFill>
                  <a:srgbClr val="8B93A8"/>
                </a:solidFill>
                <a:latin typeface="LG Smart UI Regular"/>
                <a:ea typeface="LG Smart UI Regular"/>
              </a:rPr>
              <a:t>4</a:t>
            </a:r>
            <a:r>
              <a:rPr lang="ko-KR" altLang="en-US" sz="1200" b="1" spc="100" dirty="0">
                <a:solidFill>
                  <a:srgbClr val="8B93A8"/>
                </a:solidFill>
                <a:latin typeface="LG Smart UI Regular"/>
                <a:ea typeface="LG Smart UI Regular"/>
              </a:rPr>
              <a:t>단계 대화 예시</a:t>
            </a:r>
            <a:endParaRPr lang="ko-KR" sz="1200" b="1" spc="100" dirty="0">
              <a:solidFill>
                <a:srgbClr val="8B93A8"/>
              </a:solidFill>
              <a:latin typeface="LG Smart UI Regular"/>
              <a:ea typeface="LG Smart UI Regular"/>
            </a:endParaRPr>
          </a:p>
        </p:txBody>
      </p:sp>
      <p:sp>
        <p:nvSpPr>
          <p:cNvPr id="102" name="Chat Line 1"/>
          <p:cNvSpPr txBox="1"/>
          <p:nvPr/>
        </p:nvSpPr>
        <p:spPr>
          <a:xfrm>
            <a:off x="8115300" y="2798064"/>
            <a:ext cx="35306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30200" indent="-330200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8B93A8"/>
                </a:solidFill>
                <a:latin typeface="LG Smart UI Regular"/>
                <a:ea typeface="LG Smart UI Regular"/>
              </a:rPr>
              <a:t>환자</a:t>
            </a:r>
            <a:r>
              <a:rPr 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  회식에서 부장님이 권하면 못 거절할 것 같아요.</a:t>
            </a:r>
            <a:endParaRPr lang="en-US" altLang="ko-KR" sz="1400" dirty="0">
              <a:solidFill>
                <a:srgbClr val="D9DEE8"/>
              </a:solidFill>
              <a:latin typeface="LG Smart UI Regular"/>
              <a:ea typeface="LG Smart UI Regular"/>
            </a:endParaRPr>
          </a:p>
          <a:p>
            <a:pPr marL="330200" indent="-330200">
              <a:lnSpc>
                <a:spcPct val="150000"/>
              </a:lnSpc>
              <a:buNone/>
            </a:pPr>
            <a:endParaRPr lang="ko-KR" sz="1400" dirty="0">
              <a:solidFill>
                <a:srgbClr val="D9DEE8"/>
              </a:solidFill>
              <a:latin typeface="LG Smart UI Regular"/>
              <a:ea typeface="LG Smart UI Regular"/>
            </a:endParaRPr>
          </a:p>
        </p:txBody>
      </p:sp>
      <p:sp>
        <p:nvSpPr>
          <p:cNvPr id="103" name="Chat Line 2"/>
          <p:cNvSpPr txBox="1"/>
          <p:nvPr/>
        </p:nvSpPr>
        <p:spPr>
          <a:xfrm>
            <a:off x="8115300" y="3360000"/>
            <a:ext cx="35306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30200" indent="-330200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79C6C2"/>
                </a:solidFill>
                <a:latin typeface="LG Smart UI Regular"/>
                <a:ea typeface="LG Smart UI Regular"/>
              </a:rPr>
              <a:t>앱</a:t>
            </a:r>
            <a:r>
              <a:rPr 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  </a:t>
            </a:r>
            <a:r>
              <a:rPr lang="en-US" alt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  </a:t>
            </a:r>
            <a:r>
              <a:rPr 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‘한 잔만 받아’ 하실 때(A), </a:t>
            </a:r>
            <a:endParaRPr lang="en-US" altLang="ko-KR" sz="1400" dirty="0">
              <a:solidFill>
                <a:srgbClr val="D9DEE8"/>
              </a:solidFill>
              <a:latin typeface="LG Smart UI Regular"/>
              <a:ea typeface="LG Smart UI Regular"/>
            </a:endParaRPr>
          </a:p>
          <a:p>
            <a:pPr marL="330200" indent="-33020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        </a:t>
            </a:r>
            <a:r>
              <a:rPr 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머릿속에 어떤 생각이 스치나요?(B)</a:t>
            </a:r>
          </a:p>
        </p:txBody>
      </p:sp>
      <p:sp>
        <p:nvSpPr>
          <p:cNvPr id="104" name="Chat Line 3"/>
          <p:cNvSpPr txBox="1"/>
          <p:nvPr/>
        </p:nvSpPr>
        <p:spPr>
          <a:xfrm>
            <a:off x="8115300" y="4100966"/>
            <a:ext cx="35306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30200" indent="-330200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8B93A8"/>
                </a:solidFill>
                <a:latin typeface="LG Smart UI Regular"/>
                <a:ea typeface="LG Smart UI Regular"/>
              </a:rPr>
              <a:t>환자</a:t>
            </a:r>
            <a:r>
              <a:rPr 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  ‘분위기 깨면 안 되는데, 딱 한 잔은 괜찮겠지’요.</a:t>
            </a:r>
          </a:p>
        </p:txBody>
      </p:sp>
      <p:sp>
        <p:nvSpPr>
          <p:cNvPr id="105" name="Chat Line 4"/>
          <p:cNvSpPr txBox="1"/>
          <p:nvPr/>
        </p:nvSpPr>
        <p:spPr>
          <a:xfrm>
            <a:off x="8115300" y="4600000"/>
            <a:ext cx="3530600" cy="1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30200" indent="-330200">
              <a:lnSpc>
                <a:spcPct val="150000"/>
              </a:lnSpc>
              <a:buNone/>
            </a:pPr>
            <a:r>
              <a:rPr lang="ko-KR" sz="1400" b="1" dirty="0">
                <a:solidFill>
                  <a:srgbClr val="79C6C2"/>
                </a:solidFill>
                <a:latin typeface="LG Smart UI Regular"/>
                <a:ea typeface="LG Smart UI Regular"/>
              </a:rPr>
              <a:t>앱</a:t>
            </a:r>
            <a:r>
              <a:rPr 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  </a:t>
            </a:r>
            <a:r>
              <a:rPr lang="en-US" alt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   </a:t>
            </a:r>
            <a:r>
              <a:rPr 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매뉴얼이 가장 위험하다 보는 생각이 </a:t>
            </a:r>
            <a:endParaRPr lang="en-US" altLang="ko-KR" sz="1400" dirty="0">
              <a:solidFill>
                <a:srgbClr val="D9DEE8"/>
              </a:solidFill>
              <a:latin typeface="LG Smart UI Regular"/>
              <a:ea typeface="LG Smart UI Regular"/>
            </a:endParaRPr>
          </a:p>
          <a:p>
            <a:pPr marL="330200" indent="-33020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        </a:t>
            </a:r>
            <a:r>
              <a:rPr 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그 ‘딱 한 </a:t>
            </a:r>
            <a:r>
              <a:rPr lang="ko-KR" sz="1400" dirty="0" err="1">
                <a:solidFill>
                  <a:srgbClr val="D9DEE8"/>
                </a:solidFill>
                <a:latin typeface="LG Smart UI Regular"/>
                <a:ea typeface="LG Smart UI Regular"/>
              </a:rPr>
              <a:t>잔’입니다</a:t>
            </a:r>
            <a:r>
              <a:rPr 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.</a:t>
            </a:r>
            <a:endParaRPr lang="en-US" altLang="ko-KR" sz="1400" dirty="0">
              <a:solidFill>
                <a:srgbClr val="D9DEE8"/>
              </a:solidFill>
              <a:latin typeface="LG Smart UI Regular"/>
              <a:ea typeface="LG Smart UI Regular"/>
            </a:endParaRPr>
          </a:p>
          <a:p>
            <a:pPr marL="330200" indent="-330200">
              <a:lnSpc>
                <a:spcPct val="150000"/>
              </a:lnSpc>
              <a:buNone/>
            </a:pPr>
            <a:r>
              <a:rPr lang="en-US" alt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       </a:t>
            </a:r>
            <a:r>
              <a:rPr 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‘저는 콜라 </a:t>
            </a:r>
            <a:r>
              <a:rPr lang="ko-KR" sz="1400" dirty="0" err="1">
                <a:solidFill>
                  <a:srgbClr val="D9DEE8"/>
                </a:solidFill>
                <a:latin typeface="LG Smart UI Regular"/>
                <a:ea typeface="LG Smart UI Regular"/>
              </a:rPr>
              <a:t>마실게요</a:t>
            </a:r>
            <a:r>
              <a:rPr lang="ko-KR" sz="1400" dirty="0">
                <a:solidFill>
                  <a:srgbClr val="D9DEE8"/>
                </a:solidFill>
                <a:latin typeface="LG Smart UI Regular"/>
                <a:ea typeface="LG Smart UI Regular"/>
              </a:rPr>
              <a:t>’ — 본인 말로 연습해볼까요?</a:t>
            </a:r>
          </a:p>
        </p:txBody>
      </p:sp>
    </p:spTree>
    <p:extLst>
      <p:ext uri="{BB962C8B-B14F-4D97-AF65-F5344CB8AC3E}">
        <p14:creationId xmlns:p14="http://schemas.microsoft.com/office/powerpoint/2010/main" val="2997013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39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22225">
            <a:solidFill>
              <a:srgbClr val="63C9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754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SAFETY 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AF3B2"/>
                </a:solidFill>
                <a:latin typeface="LG Smart UI Regular"/>
                <a:ea typeface="LG Smart UI Regular"/>
                <a:cs typeface="Pretendard ExtraBold" pitchFamily="34" charset="-120"/>
              </a:rPr>
              <a:t>안전 게이트</a:t>
            </a:r>
            <a:endParaRPr lang="en-US" sz="3400" b="1" dirty="0">
              <a:latin typeface="LG Smart UI Regular"/>
              <a:ea typeface="LG Smart UI Regular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3479" y="3497580"/>
            <a:ext cx="1088846" cy="914400"/>
          </a:xfrm>
          <a:prstGeom prst="rect">
            <a:avLst/>
          </a:prstGeom>
          <a:solidFill>
            <a:srgbClr val="293960"/>
          </a:solidFill>
          <a:ln w="15875">
            <a:solidFill>
              <a:srgbClr val="F7FF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3479" y="3497580"/>
            <a:ext cx="10888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FE7"/>
                </a:solidFill>
                <a:latin typeface="LG Smart UI Regular"/>
                <a:ea typeface="LG Smart UI Regular"/>
                <a:cs typeface="Pretendard" pitchFamily="34" charset="-120"/>
              </a:rPr>
              <a:t>발화 입력</a:t>
            </a:r>
            <a:endParaRPr lang="en-US" sz="1400" dirty="0">
              <a:latin typeface="LG Smart UI Regular"/>
              <a:ea typeface="LG Smart UI Regular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061337" y="3677182"/>
            <a:ext cx="272211" cy="457200"/>
          </a:xfrm>
          <a:prstGeom prst="chevron">
            <a:avLst/>
          </a:prstGeom>
          <a:solidFill>
            <a:srgbClr val="63C9CD"/>
          </a:solidFill>
          <a:ln/>
        </p:spPr>
      </p:sp>
      <p:sp>
        <p:nvSpPr>
          <p:cNvPr id="8" name="Shape 6"/>
          <p:cNvSpPr/>
          <p:nvPr/>
        </p:nvSpPr>
        <p:spPr>
          <a:xfrm>
            <a:off x="2500520" y="3429000"/>
            <a:ext cx="1469942" cy="1005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</p:sp>
      <p:sp>
        <p:nvSpPr>
          <p:cNvPr id="9" name="Text 7"/>
          <p:cNvSpPr/>
          <p:nvPr/>
        </p:nvSpPr>
        <p:spPr>
          <a:xfrm>
            <a:off x="2500520" y="3429000"/>
            <a:ext cx="14699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안전 분류기</a:t>
            </a:r>
            <a:endParaRPr lang="en-US" sz="1400" dirty="0">
              <a:latin typeface="LG Smart UI Regular"/>
              <a:ea typeface="LG Smart UI Regular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(등급 판정)</a:t>
            </a:r>
            <a:endParaRPr lang="en-US" sz="1400" dirty="0">
              <a:latin typeface="LG Smart UI Regular"/>
              <a:ea typeface="LG Smart UI Regular"/>
            </a:endParaRPr>
          </a:p>
        </p:txBody>
      </p:sp>
      <p:sp>
        <p:nvSpPr>
          <p:cNvPr id="10" name="Shape 8"/>
          <p:cNvSpPr/>
          <p:nvPr/>
        </p:nvSpPr>
        <p:spPr>
          <a:xfrm flipV="1">
            <a:off x="3978109" y="2340634"/>
            <a:ext cx="651724" cy="1583638"/>
          </a:xfrm>
          <a:prstGeom prst="line">
            <a:avLst/>
          </a:prstGeom>
          <a:noFill/>
          <a:ln w="25400">
            <a:solidFill>
              <a:srgbClr val="63C9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78109" y="3924271"/>
            <a:ext cx="648845" cy="1621479"/>
          </a:xfrm>
          <a:prstGeom prst="line">
            <a:avLst/>
          </a:prstGeom>
          <a:noFill/>
          <a:ln w="25400">
            <a:solidFill>
              <a:srgbClr val="63C9CD"/>
            </a:solidFill>
            <a:prstDash val="solid"/>
          </a:ln>
        </p:spPr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712C1733-05C2-4CD3-FFE3-4F0A57BBE4D2}"/>
              </a:ext>
            </a:extLst>
          </p:cNvPr>
          <p:cNvSpPr/>
          <p:nvPr/>
        </p:nvSpPr>
        <p:spPr>
          <a:xfrm flipV="1">
            <a:off x="3978110" y="3924270"/>
            <a:ext cx="659370" cy="1"/>
          </a:xfrm>
          <a:prstGeom prst="line">
            <a:avLst/>
          </a:prstGeom>
          <a:noFill/>
          <a:ln w="25400">
            <a:solidFill>
              <a:srgbClr val="63C9C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9833" y="1659551"/>
            <a:ext cx="4068470" cy="13258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</p:sp>
      <p:sp>
        <p:nvSpPr>
          <p:cNvPr id="13" name="Text 11"/>
          <p:cNvSpPr/>
          <p:nvPr/>
        </p:nvSpPr>
        <p:spPr>
          <a:xfrm>
            <a:off x="4904152" y="2089319"/>
            <a:ext cx="4274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LG Smart UI Regular"/>
                <a:ea typeface="LG Smart UI Regular"/>
                <a:cs typeface="Pretendard" pitchFamily="34" charset="-120"/>
              </a:rPr>
              <a:t>등급 A (</a:t>
            </a:r>
            <a:r>
              <a:rPr lang="ko-KR" altLang="en-US" sz="1200" b="1" dirty="0">
                <a:solidFill>
                  <a:srgbClr val="C00000"/>
                </a:solidFill>
                <a:latin typeface="LG Smart UI Regular"/>
                <a:ea typeface="LG Smart UI Regular"/>
                <a:cs typeface="Pretendard" pitchFamily="34" charset="-120"/>
              </a:rPr>
              <a:t>응급</a:t>
            </a:r>
            <a:r>
              <a:rPr lang="en-US" sz="1200" b="1" dirty="0">
                <a:solidFill>
                  <a:srgbClr val="C00000"/>
                </a:solidFill>
                <a:latin typeface="LG Smart UI Regular"/>
                <a:ea typeface="LG Smart UI Regular"/>
                <a:cs typeface="Pretendard" pitchFamily="34" charset="-120"/>
              </a:rPr>
              <a:t>) 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→ LLM 잠금 · 즉시 위기 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자원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연계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LG Smart UI Regular"/>
              <a:ea typeface="LG Smart UI Regular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29833" y="3259751"/>
            <a:ext cx="4068470" cy="13258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5875">
            <a:solidFill>
              <a:srgbClr val="F7FF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4152" y="3694091"/>
            <a:ext cx="4274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등급 B (</a:t>
            </a:r>
            <a:r>
              <a:rPr lang="ko-KR" altLang="en-US" sz="1200" b="1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비응급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)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→ B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등급 전용 모델 전환 후 대화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1200" b="1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계속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LG Smart UI Regular"/>
              <a:ea typeface="LG Smart UI Regular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91A74F4-A46F-AB35-B698-B31359AF9C3C}"/>
              </a:ext>
            </a:extLst>
          </p:cNvPr>
          <p:cNvSpPr/>
          <p:nvPr/>
        </p:nvSpPr>
        <p:spPr>
          <a:xfrm>
            <a:off x="4896505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＂</a:t>
            </a:r>
            <a:r>
              <a:rPr lang="ko-KR" altLang="en-US" sz="1200" i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죽고 싶어</a:t>
            </a: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"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LG Smart UI Regular"/>
              <a:ea typeface="LG Smart UI Regular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7A3B339A-1E8D-F3FA-F361-616AE1B06316}"/>
              </a:ext>
            </a:extLst>
          </p:cNvPr>
          <p:cNvSpPr/>
          <p:nvPr/>
        </p:nvSpPr>
        <p:spPr>
          <a:xfrm>
            <a:off x="4907172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＂</a:t>
            </a:r>
            <a:r>
              <a:rPr lang="ko-KR" altLang="en-US" sz="1200" i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사실 어제 한 잔 마셨어</a:t>
            </a: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"</a:t>
            </a:r>
            <a:endParaRPr lang="en-US" sz="1200" dirty="0">
              <a:solidFill>
                <a:schemeClr val="accent1">
                  <a:lumMod val="50000"/>
                </a:schemeClr>
              </a:solidFill>
              <a:latin typeface="LG Smart UI Regular"/>
              <a:ea typeface="LG Smart UI Regular"/>
            </a:endParaRPr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C6375652-C77D-630F-A5A9-2225FCA55D13}"/>
              </a:ext>
            </a:extLst>
          </p:cNvPr>
          <p:cNvSpPr/>
          <p:nvPr/>
        </p:nvSpPr>
        <p:spPr>
          <a:xfrm>
            <a:off x="4626956" y="4884392"/>
            <a:ext cx="4068470" cy="13258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5875">
            <a:solidFill>
              <a:srgbClr val="F7FFE7"/>
            </a:solidFill>
            <a:prstDash val="solid"/>
          </a:ln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8F5DB6BA-E7A9-592F-FCC4-76AFC324FF4F}"/>
              </a:ext>
            </a:extLst>
          </p:cNvPr>
          <p:cNvSpPr/>
          <p:nvPr/>
        </p:nvSpPr>
        <p:spPr>
          <a:xfrm>
            <a:off x="4901275" y="5318732"/>
            <a:ext cx="4274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일반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  → </a:t>
            </a:r>
            <a:r>
              <a:rPr lang="en-US" sz="1400" b="1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맞춤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CBT </a:t>
            </a:r>
            <a:r>
              <a:rPr lang="ko-KR" altLang="en-US" sz="140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대화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계속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LG Smart UI Regular"/>
              <a:ea typeface="LG Smart UI Regular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9A5210B-30A1-12C6-4312-A11A4E0186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2"/>
          <a:stretch>
            <a:fillRect/>
          </a:stretch>
        </p:blipFill>
        <p:spPr>
          <a:xfrm>
            <a:off x="9175950" y="1876872"/>
            <a:ext cx="2421555" cy="3600619"/>
          </a:xfrm>
          <a:prstGeom prst="rect">
            <a:avLst/>
          </a:prstGeom>
        </p:spPr>
      </p:pic>
      <p:sp>
        <p:nvSpPr>
          <p:cNvPr id="27" name="Text 32">
            <a:extLst>
              <a:ext uri="{FF2B5EF4-FFF2-40B4-BE49-F238E27FC236}">
                <a16:creationId xmlns:a16="http://schemas.microsoft.com/office/drawing/2014/main" id="{F9DD25E2-2289-4C60-EC11-17FC8E54E3E4}"/>
              </a:ext>
            </a:extLst>
          </p:cNvPr>
          <p:cNvSpPr/>
          <p:nvPr/>
        </p:nvSpPr>
        <p:spPr>
          <a:xfrm>
            <a:off x="7242556" y="5507777"/>
            <a:ext cx="6255706" cy="273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chemeClr val="bg2"/>
                </a:solidFill>
                <a:latin typeface="LG Smart UI Regular"/>
                <a:ea typeface="LG Smart UI Regular"/>
              </a:rPr>
              <a:t>등급 </a:t>
            </a:r>
            <a:r>
              <a:rPr lang="en-US" altLang="ko-KR" sz="1000" dirty="0">
                <a:solidFill>
                  <a:schemeClr val="bg2"/>
                </a:solidFill>
                <a:latin typeface="LG Smart UI Regular"/>
                <a:ea typeface="LG Smart UI Regular"/>
              </a:rPr>
              <a:t>A</a:t>
            </a:r>
            <a:r>
              <a:rPr lang="ko-KR" altLang="en-US" sz="1000" dirty="0">
                <a:solidFill>
                  <a:schemeClr val="bg2"/>
                </a:solidFill>
                <a:latin typeface="LG Smart UI Regular"/>
                <a:ea typeface="LG Smart UI Regular"/>
              </a:rPr>
              <a:t>로 판정될 경우</a:t>
            </a:r>
            <a:endParaRPr lang="en-US" sz="1000" dirty="0">
              <a:solidFill>
                <a:schemeClr val="bg2"/>
              </a:solidFill>
              <a:latin typeface="LG Smart UI Regular"/>
              <a:ea typeface="LG Smart UI Regula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463D95-D456-16FA-EA2C-1B1F925F4DC6}"/>
              </a:ext>
            </a:extLst>
          </p:cNvPr>
          <p:cNvSpPr txBox="1"/>
          <p:nvPr/>
        </p:nvSpPr>
        <p:spPr>
          <a:xfrm>
            <a:off x="4802947" y="1782424"/>
            <a:ext cx="67486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i="1" dirty="0">
                <a:solidFill>
                  <a:schemeClr val="bg2">
                    <a:lumMod val="25000"/>
                  </a:schemeClr>
                </a:solidFill>
                <a:effectLst/>
                <a:latin typeface="LG Smart UI Regular" panose="020B0500000101010101" pitchFamily="50" charset="-127"/>
                <a:ea typeface="LG Smart UI Regular" panose="020B0500000101010101" pitchFamily="50" charset="-127"/>
                <a:cs typeface="맑은 고딕" panose="020B0503020000020004" pitchFamily="50" charset="-127"/>
              </a:rPr>
              <a:t>(</a:t>
            </a:r>
            <a:r>
              <a:rPr lang="ko-KR" altLang="ko-KR" sz="1200" i="1" dirty="0">
                <a:solidFill>
                  <a:schemeClr val="bg2">
                    <a:lumMod val="25000"/>
                  </a:schemeClr>
                </a:solidFill>
                <a:effectLst/>
                <a:latin typeface="LG Smart UI Regular" panose="020B0500000101010101" pitchFamily="50" charset="-127"/>
                <a:ea typeface="LG Smart UI Regular" panose="020B0500000101010101" pitchFamily="50" charset="-127"/>
                <a:cs typeface="맑은 고딕" panose="020B0503020000020004" pitchFamily="50" charset="-127"/>
              </a:rPr>
              <a:t>자살</a:t>
            </a:r>
            <a:r>
              <a:rPr lang="en-US" altLang="ko-KR" sz="1200" i="1" dirty="0">
                <a:solidFill>
                  <a:schemeClr val="bg2">
                    <a:lumMod val="25000"/>
                  </a:schemeClr>
                </a:solidFill>
                <a:effectLst/>
                <a:latin typeface="LG Smart UI Regular" panose="020B0500000101010101" pitchFamily="50" charset="-127"/>
                <a:ea typeface="LG Smart UI Regular" panose="020B0500000101010101" pitchFamily="50" charset="-127"/>
                <a:cs typeface="맑은 고딕" panose="020B0503020000020004" pitchFamily="50" charset="-127"/>
              </a:rPr>
              <a:t>·</a:t>
            </a:r>
            <a:r>
              <a:rPr lang="ko-KR" altLang="ko-KR" sz="1200" i="1" dirty="0">
                <a:solidFill>
                  <a:schemeClr val="bg2">
                    <a:lumMod val="25000"/>
                  </a:schemeClr>
                </a:solidFill>
                <a:effectLst/>
                <a:latin typeface="LG Smart UI Regular" panose="020B0500000101010101" pitchFamily="50" charset="-127"/>
                <a:ea typeface="LG Smart UI Regular" panose="020B0500000101010101" pitchFamily="50" charset="-127"/>
                <a:cs typeface="맑은 고딕" panose="020B0503020000020004" pitchFamily="50" charset="-127"/>
              </a:rPr>
              <a:t>급성중독</a:t>
            </a:r>
            <a:r>
              <a:rPr lang="en-US" altLang="ko-KR" sz="1200" i="1" dirty="0">
                <a:solidFill>
                  <a:schemeClr val="bg2">
                    <a:lumMod val="25000"/>
                  </a:schemeClr>
                </a:solidFill>
                <a:effectLst/>
                <a:latin typeface="LG Smart UI Regular" panose="020B0500000101010101" pitchFamily="50" charset="-127"/>
                <a:ea typeface="LG Smart UI Regular" panose="020B0500000101010101" pitchFamily="50" charset="-127"/>
                <a:cs typeface="맑은 고딕" panose="020B0503020000020004" pitchFamily="50" charset="-127"/>
              </a:rPr>
              <a:t>) </a:t>
            </a:r>
            <a:endParaRPr lang="ko-KR" altLang="en-US" sz="1200" i="1" dirty="0">
              <a:solidFill>
                <a:schemeClr val="bg2">
                  <a:lumMod val="25000"/>
                </a:schemeClr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D12ACB-B59E-904F-5B2D-80A508201D78}"/>
              </a:ext>
            </a:extLst>
          </p:cNvPr>
          <p:cNvSpPr txBox="1"/>
          <p:nvPr/>
        </p:nvSpPr>
        <p:spPr>
          <a:xfrm>
            <a:off x="4802947" y="3363546"/>
            <a:ext cx="67486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i="1" dirty="0">
                <a:solidFill>
                  <a:schemeClr val="bg2">
                    <a:lumMod val="25000"/>
                  </a:schemeClr>
                </a:solidFill>
                <a:effectLst/>
                <a:latin typeface="LG Smart UI Regular" panose="020B0500000101010101" pitchFamily="50" charset="-127"/>
                <a:ea typeface="LG Smart UI Regular" panose="020B0500000101010101" pitchFamily="50" charset="-127"/>
                <a:cs typeface="맑은 고딕" panose="020B0503020000020004" pitchFamily="50" charset="-127"/>
              </a:rPr>
              <a:t>(</a:t>
            </a:r>
            <a:r>
              <a:rPr lang="ko-KR" altLang="ko-KR" sz="1200" i="1" dirty="0">
                <a:solidFill>
                  <a:schemeClr val="bg2">
                    <a:lumMod val="25000"/>
                  </a:schemeClr>
                </a:solidFill>
                <a:effectLst/>
                <a:latin typeface="LG Smart UI Regular" panose="020B0500000101010101" pitchFamily="50" charset="-127"/>
                <a:ea typeface="LG Smart UI Regular" panose="020B0500000101010101" pitchFamily="50" charset="-127"/>
                <a:cs typeface="맑은 고딕" panose="020B0503020000020004" pitchFamily="50" charset="-127"/>
              </a:rPr>
              <a:t>재발</a:t>
            </a:r>
            <a:r>
              <a:rPr lang="en-US" altLang="ko-KR" sz="1200" i="1" dirty="0">
                <a:solidFill>
                  <a:schemeClr val="bg2">
                    <a:lumMod val="25000"/>
                  </a:schemeClr>
                </a:solidFill>
                <a:effectLst/>
                <a:latin typeface="LG Smart UI Regular" panose="020B0500000101010101" pitchFamily="50" charset="-127"/>
                <a:ea typeface="LG Smart UI Regular" panose="020B0500000101010101" pitchFamily="50" charset="-127"/>
                <a:cs typeface="맑은 고딕" panose="020B0503020000020004" pitchFamily="50" charset="-127"/>
              </a:rPr>
              <a:t>·</a:t>
            </a:r>
            <a:r>
              <a:rPr lang="ko-KR" altLang="ko-KR" sz="1200" i="1" dirty="0">
                <a:solidFill>
                  <a:schemeClr val="bg2">
                    <a:lumMod val="25000"/>
                  </a:schemeClr>
                </a:solidFill>
                <a:effectLst/>
                <a:latin typeface="LG Smart UI Regular" panose="020B0500000101010101" pitchFamily="50" charset="-127"/>
                <a:ea typeface="LG Smart UI Regular" panose="020B0500000101010101" pitchFamily="50" charset="-127"/>
                <a:cs typeface="맑은 고딕" panose="020B0503020000020004" pitchFamily="50" charset="-127"/>
              </a:rPr>
              <a:t>복약중단</a:t>
            </a:r>
            <a:r>
              <a:rPr lang="en-US" altLang="ko-KR" sz="1200" i="1" dirty="0">
                <a:solidFill>
                  <a:schemeClr val="bg2">
                    <a:lumMod val="25000"/>
                  </a:schemeClr>
                </a:solidFill>
                <a:effectLst/>
                <a:latin typeface="LG Smart UI Regular" panose="020B0500000101010101" pitchFamily="50" charset="-127"/>
                <a:ea typeface="LG Smart UI Regular" panose="020B0500000101010101" pitchFamily="50" charset="-127"/>
                <a:cs typeface="맑은 고딕" panose="020B0503020000020004" pitchFamily="50" charset="-127"/>
              </a:rPr>
              <a:t>·PAWS)</a:t>
            </a:r>
            <a:endParaRPr lang="ko-KR" altLang="en-US" sz="1200" i="1" dirty="0">
              <a:solidFill>
                <a:schemeClr val="bg2">
                  <a:lumMod val="25000"/>
                </a:schemeClr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22225">
            <a:solidFill>
              <a:srgbClr val="63C9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VALIDATION 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성능 검증</a:t>
            </a:r>
            <a:endParaRPr lang="en-US" sz="3400" b="1" dirty="0">
              <a:latin typeface="LG Smart UI Regular"/>
              <a:ea typeface="LG Smart UI Regular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823018" y="1855108"/>
          <a:ext cx="5514523" cy="2927203"/>
        </p:xfrm>
        <a:graphic>
          <a:graphicData uri="http://schemas.openxmlformats.org/drawingml/2006/table">
            <a:tbl>
              <a:tblPr/>
              <a:tblGrid>
                <a:gridCol w="1684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6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9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AF3B2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정답↓ / 예측→</a:t>
                      </a:r>
                      <a:endParaRPr lang="en-US" sz="14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9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AF3B2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등급 A</a:t>
                      </a:r>
                      <a:endParaRPr lang="en-US" sz="14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9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AF3B2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등급 B</a:t>
                      </a:r>
                      <a:endParaRPr lang="en-US" sz="14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9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AF3B2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일반</a:t>
                      </a:r>
                      <a:endParaRPr lang="en-US" sz="14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9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0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등급 A</a:t>
                      </a:r>
                      <a:endParaRPr lang="en-US" sz="14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7FFE7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50</a:t>
                      </a:r>
                      <a:endParaRPr lang="en-US" sz="18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9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B6B86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0</a:t>
                      </a:r>
                      <a:endParaRPr lang="en-US" sz="16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B6B86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0</a:t>
                      </a:r>
                      <a:endParaRPr lang="en-US" sz="16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0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등급 B</a:t>
                      </a:r>
                      <a:endParaRPr lang="en-US" sz="14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5A141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1</a:t>
                      </a:r>
                      <a:endParaRPr lang="en-US" sz="18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6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7FFE7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70</a:t>
                      </a:r>
                      <a:endParaRPr lang="en-US" sz="18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9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5A141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7</a:t>
                      </a:r>
                      <a:endParaRPr lang="en-US" sz="18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6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0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일반</a:t>
                      </a:r>
                      <a:endParaRPr lang="en-US" sz="14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B6B86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0</a:t>
                      </a:r>
                      <a:endParaRPr lang="en-US" sz="16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5B6B86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0</a:t>
                      </a:r>
                      <a:endParaRPr lang="en-US" sz="16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7FFE7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72</a:t>
                      </a:r>
                      <a:endParaRPr lang="en-US" sz="1800" b="1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9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3018" y="4718878"/>
            <a:ext cx="5514522" cy="33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■ 정답 일치   </a:t>
            </a:r>
            <a:r>
              <a:rPr lang="en-US" sz="1050" b="1" dirty="0">
                <a:solidFill>
                  <a:srgbClr val="E8867A"/>
                </a:solidFill>
                <a:latin typeface="LG Smart UI Regular"/>
                <a:ea typeface="LG Smart UI Regular"/>
                <a:cs typeface="Pretendard" pitchFamily="34" charset="-120"/>
              </a:rPr>
              <a:t>■ </a:t>
            </a:r>
            <a:r>
              <a:rPr lang="en-US" sz="1050" b="1" dirty="0">
                <a:solidFill>
                  <a:srgbClr val="5B6B86"/>
                </a:solidFill>
                <a:latin typeface="LG Smart UI Regular"/>
                <a:ea typeface="LG Smart UI Regular"/>
                <a:cs typeface="Pretendard" pitchFamily="34" charset="-120"/>
              </a:rPr>
              <a:t>오분류   ·   200발화</a:t>
            </a:r>
            <a:endParaRPr lang="en-US" sz="1050" dirty="0">
              <a:latin typeface="LG Smart UI Regular"/>
              <a:ea typeface="LG Smart UI Regular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591253" y="2663414"/>
            <a:ext cx="456395" cy="540407"/>
          </a:xfrm>
          <a:prstGeom prst="chevron">
            <a:avLst/>
          </a:prstGeom>
          <a:solidFill>
            <a:srgbClr val="2939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192245" y="2545453"/>
            <a:ext cx="2281975" cy="562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100%</a:t>
            </a:r>
            <a:endParaRPr lang="en-US" sz="2400" b="1" dirty="0">
              <a:latin typeface="LG Smart UI Regular"/>
              <a:ea typeface="LG Smart UI Regular"/>
            </a:endParaRPr>
          </a:p>
        </p:txBody>
      </p:sp>
      <p:sp>
        <p:nvSpPr>
          <p:cNvPr id="9" name="Text 6"/>
          <p:cNvSpPr/>
          <p:nvPr/>
        </p:nvSpPr>
        <p:spPr>
          <a:xfrm>
            <a:off x="7192246" y="2971791"/>
            <a:ext cx="2281975" cy="33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등급 A 재현율 · 놓침 0</a:t>
            </a:r>
            <a:endParaRPr lang="en-US" sz="1150" dirty="0">
              <a:latin typeface="LG Smart UI Regular"/>
              <a:ea typeface="LG Smart UI Regular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77240" y="5110000"/>
            <a:ext cx="3966713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2000"/>
              </a:lnSpc>
            </a:pPr>
            <a:r>
              <a:rPr lang="en-US" altLang="ko-KR" sz="3200" b="1" dirty="0">
                <a:solidFill>
                  <a:srgbClr val="B72A1B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Recall &gt; Precision </a:t>
            </a:r>
            <a:endParaRPr lang="en-US" sz="2800" b="1" dirty="0">
              <a:solidFill>
                <a:srgbClr val="B72A1B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591253" y="3336717"/>
            <a:ext cx="456395" cy="540407"/>
          </a:xfrm>
          <a:prstGeom prst="chevron">
            <a:avLst/>
          </a:prstGeom>
          <a:solidFill>
            <a:srgbClr val="2939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192245" y="3218756"/>
            <a:ext cx="2281975" cy="562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96%</a:t>
            </a:r>
            <a:endParaRPr lang="en-US" sz="2400" b="1" dirty="0">
              <a:latin typeface="LG Smart UI Regular"/>
              <a:ea typeface="LG Smart UI Regular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192245" y="3645094"/>
            <a:ext cx="1712393" cy="33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전체 탐지 정확도 (192/200)</a:t>
            </a:r>
            <a:endParaRPr lang="en-US" sz="1150" dirty="0">
              <a:latin typeface="LG Smart UI Regular"/>
              <a:ea typeface="LG Smart UI Regular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591253" y="3995085"/>
            <a:ext cx="456395" cy="540407"/>
          </a:xfrm>
          <a:prstGeom prst="chevron">
            <a:avLst/>
          </a:prstGeom>
          <a:solidFill>
            <a:srgbClr val="2939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192245" y="3877124"/>
            <a:ext cx="2281975" cy="562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LG Smart UI Regular"/>
                <a:ea typeface="LG Smart UI Regular"/>
                <a:cs typeface="Pretendard ExtraBold" pitchFamily="34" charset="-120"/>
              </a:rPr>
              <a:t>89.7%</a:t>
            </a:r>
            <a:endParaRPr lang="en-US" sz="2400" b="1" dirty="0">
              <a:latin typeface="LG Smart UI Regular"/>
              <a:ea typeface="LG Smart UI Regular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192246" y="4303462"/>
            <a:ext cx="1578528" cy="33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93960"/>
                </a:solidFill>
                <a:latin typeface="LG Smart UI Regular"/>
                <a:ea typeface="LG Smart UI Regular"/>
                <a:cs typeface="Pretendard" pitchFamily="34" charset="-120"/>
              </a:rPr>
              <a:t>등급 B 재현율 (70/78)</a:t>
            </a:r>
            <a:endParaRPr lang="en-US" sz="1150" dirty="0">
              <a:latin typeface="LG Smart UI Regular"/>
              <a:ea typeface="LG Smart UI Regular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77240" y="5948924"/>
            <a:ext cx="10637215" cy="515141"/>
          </a:xfrm>
          <a:prstGeom prst="rect">
            <a:avLst/>
          </a:prstGeom>
          <a:solidFill>
            <a:srgbClr val="2939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1005840" y="60998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▲ 상향(과경보·안전) 1건  </a:t>
            </a:r>
            <a:r>
              <a:rPr lang="en-US" sz="1150" dirty="0">
                <a:solidFill>
                  <a:srgbClr val="F7FFE7"/>
                </a:solidFill>
                <a:latin typeface="LG Smart UI Regular"/>
                <a:ea typeface="LG Smart UI Regular"/>
                <a:cs typeface="Pretendard" pitchFamily="34" charset="-120"/>
              </a:rPr>
              <a:t>B040 ‘어제 만취·필름끊김’ → 등급 A      </a:t>
            </a:r>
            <a:r>
              <a:rPr lang="en-US" sz="1150" b="1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▼ 하향(놓침·주의) 7건  </a:t>
            </a:r>
            <a:r>
              <a:rPr lang="en-US" sz="1150" dirty="0">
                <a:solidFill>
                  <a:srgbClr val="F7FFE7"/>
                </a:solidFill>
                <a:latin typeface="LG Smart UI Regular"/>
                <a:ea typeface="LG Smart UI Regular"/>
                <a:cs typeface="Pretendard" pitchFamily="34" charset="-120"/>
              </a:rPr>
              <a:t>완곡한 재발/PAWS/복약중단(‘어제 좀 실수’) → </a:t>
            </a:r>
            <a:r>
              <a:rPr lang="en-US" sz="1150" dirty="0" err="1">
                <a:solidFill>
                  <a:srgbClr val="F7FFE7"/>
                </a:solidFill>
                <a:latin typeface="LG Smart UI Regular"/>
                <a:ea typeface="LG Smart UI Regular"/>
                <a:cs typeface="Pretendard" pitchFamily="34" charset="-120"/>
              </a:rPr>
              <a:t>일반</a:t>
            </a:r>
            <a:r>
              <a:rPr lang="en-US" sz="1150" dirty="0">
                <a:solidFill>
                  <a:srgbClr val="F7FFE7"/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endParaRPr lang="en-US" sz="1150" dirty="0">
              <a:latin typeface="LG Smart UI Regular"/>
              <a:ea typeface="LG Smart UI Regular"/>
            </a:endParaRPr>
          </a:p>
        </p:txBody>
      </p:sp>
      <p:sp>
        <p:nvSpPr>
          <p:cNvPr id="30" name="MultiturnNote"/>
          <p:cNvSpPr/>
          <p:nvPr/>
        </p:nvSpPr>
        <p:spPr>
          <a:xfrm>
            <a:off x="5170250" y="5067699"/>
            <a:ext cx="6198731" cy="8012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3C9CD"/>
            </a:solidFill>
          </a:ln>
        </p:spPr>
        <p:txBody>
          <a:bodyPr lIns="152400" tIns="88900" rIns="127000" bIns="76200" rtlCol="0" anchor="ctr">
            <a:normAutofit lnSpcReduction="10000"/>
          </a:bodyPr>
          <a:lstStyle/>
          <a:p>
            <a:pPr marL="0" indent="0">
              <a:lnSpc>
                <a:spcPct val="108000"/>
              </a:lnSpc>
              <a:spcBef>
                <a:spcPts val="200"/>
              </a:spcBef>
              <a:buNone/>
            </a:pPr>
            <a:r>
              <a:rPr lang="ko-KR" altLang="en-US" sz="1250" b="1" dirty="0">
                <a:solidFill>
                  <a:srgbClr val="63C9CD"/>
                </a:solidFill>
                <a:latin typeface="LG Smart UI Regular"/>
                <a:ea typeface="LG Smart UI Regular"/>
              </a:rPr>
              <a:t>맥락 검증 — 멀티턴 &amp; 룰 백스톱</a:t>
            </a:r>
          </a:p>
          <a:p>
            <a:pPr marL="0" indent="0">
              <a:lnSpc>
                <a:spcPct val="108000"/>
              </a:lnSpc>
              <a:spcBef>
                <a:spcPts val="200"/>
              </a:spcBef>
              <a:buNone/>
            </a:pPr>
            <a:r>
              <a:rPr lang="ko-KR" altLang="en-US" sz="1100" dirty="0">
                <a:solidFill>
                  <a:srgbClr val="293960"/>
                </a:solidFill>
                <a:latin typeface="LG Smart UI Regular"/>
                <a:ea typeface="LG Smart UI Regular"/>
              </a:rPr>
              <a:t>멀티턴 등급 A 4/4 · 단발 스모크 8/8 PASS · 룰+LLM 이중 백스톱 · 긴급 누락 0</a:t>
            </a:r>
          </a:p>
          <a:p>
            <a:pPr marL="0" indent="0">
              <a:lnSpc>
                <a:spcPct val="108000"/>
              </a:lnSpc>
              <a:spcBef>
                <a:spcPts val="200"/>
              </a:spcBef>
              <a:buNone/>
            </a:pPr>
            <a:r>
              <a:rPr lang="ko-KR" altLang="en-US" sz="1100" dirty="0">
                <a:solidFill>
                  <a:srgbClr val="293960"/>
                </a:solidFill>
                <a:latin typeface="LG Smart UI Regular"/>
                <a:ea typeface="LG Smart UI Regular"/>
              </a:rPr>
              <a:t>같은 ‘죽고싶네’도 직전 맥락을 활용해 일반/등급 </a:t>
            </a:r>
            <a:r>
              <a:rPr lang="ko-KR" altLang="en-US" sz="1100" dirty="0" err="1">
                <a:solidFill>
                  <a:srgbClr val="293960"/>
                </a:solidFill>
                <a:latin typeface="LG Smart UI Regular"/>
                <a:ea typeface="LG Smart UI Regular"/>
              </a:rPr>
              <a:t>A로</a:t>
            </a:r>
            <a:r>
              <a:rPr lang="ko-KR" altLang="en-US" sz="1100" dirty="0">
                <a:solidFill>
                  <a:srgbClr val="293960"/>
                </a:solidFill>
                <a:latin typeface="LG Smart UI Regular"/>
                <a:ea typeface="LG Smart UI Regular"/>
              </a:rPr>
              <a:t> 구분</a:t>
            </a:r>
          </a:p>
        </p:txBody>
      </p:sp>
    </p:spTree>
    <p:extLst>
      <p:ext uri="{BB962C8B-B14F-4D97-AF65-F5344CB8AC3E}">
        <p14:creationId xmlns:p14="http://schemas.microsoft.com/office/powerpoint/2010/main" val="2298907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22225">
            <a:solidFill>
              <a:srgbClr val="63C9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COMPETITION 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우리 앱의 포지션</a:t>
            </a:r>
            <a:endParaRPr lang="en-US" sz="3400" b="1" dirty="0">
              <a:latin typeface="LG Smart UI Regular"/>
              <a:ea typeface="LG Smart UI Regular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777240" y="1965960"/>
          <a:ext cx="10634472" cy="347472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비교 축</a:t>
                      </a:r>
                      <a:endParaRPr lang="en-US" sz="12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AF3B2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본 앱</a:t>
                      </a:r>
                      <a:endParaRPr lang="en-US" sz="125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9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해외 음주앱</a:t>
                      </a:r>
                      <a:endParaRPr lang="en-US" sz="115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(Reframe·Sunnyside)</a:t>
                      </a:r>
                      <a:endParaRPr lang="en-US" sz="115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국내 DTx</a:t>
                      </a:r>
                      <a:endParaRPr lang="en-US" sz="115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(솜즈·웰트류)</a:t>
                      </a:r>
                      <a:endParaRPr lang="en-US" sz="115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일반 챗봇</a:t>
                      </a:r>
                      <a:endParaRPr lang="en-US" sz="115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구조화 12주 CBT 프로토콜</a:t>
                      </a:r>
                      <a:endParaRPr lang="en-US" sz="12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○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98A1E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△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○*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✕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갈망 즉시 대응 (24시간)</a:t>
                      </a:r>
                      <a:endParaRPr lang="en-US" sz="12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○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98A1E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△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✕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98A1E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△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안전 분류 (자살·급성중독)</a:t>
                      </a:r>
                      <a:endParaRPr lang="en-US" sz="12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○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✕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제한</a:t>
                      </a:r>
                      <a:endParaRPr lang="en-US" sz="11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✕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의료진 감독·연계 (A군)</a:t>
                      </a:r>
                      <a:endParaRPr lang="en-US" sz="12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○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✕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○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✕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한국 임상·언어·제도</a:t>
                      </a:r>
                      <a:endParaRPr lang="en-US" sz="12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○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✕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○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98A1E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△</a:t>
                      </a:r>
                      <a:endParaRPr lang="en-US" sz="15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AUD 적응증</a:t>
                      </a:r>
                      <a:endParaRPr lang="en-US" sz="12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목표</a:t>
                      </a:r>
                      <a:endParaRPr lang="en-US" sz="11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웰니스</a:t>
                      </a:r>
                      <a:endParaRPr lang="en-US" sz="11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LG Smart UI Regular"/>
                        <a:ea typeface="LG Smart UI Regular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F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916168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6"/>
                </a:solidFill>
                <a:latin typeface="LG Smart UI Regular"/>
                <a:ea typeface="LG Smart UI Regular"/>
                <a:cs typeface="Pretendard" pitchFamily="34" charset="-120"/>
              </a:rPr>
              <a:t>*○ 충족 · △ 부분 · ✕ 없음</a:t>
            </a:r>
            <a:endParaRPr lang="en-US" sz="1100" dirty="0">
              <a:latin typeface="LG Smart UI Regular"/>
              <a:ea typeface="LG Smart UI Regular"/>
            </a:endParaRPr>
          </a:p>
        </p:txBody>
      </p:sp>
      <p:sp>
        <p:nvSpPr>
          <p:cNvPr id="20" name="CompetitorSummary"/>
          <p:cNvSpPr/>
          <p:nvPr/>
        </p:nvSpPr>
        <p:spPr>
          <a:xfrm>
            <a:off x="706606" y="5492993"/>
            <a:ext cx="10642600" cy="508000"/>
          </a:xfrm>
          <a:prstGeom prst="rect">
            <a:avLst/>
          </a:prstGeom>
          <a:noFill/>
          <a:ln/>
        </p:spPr>
        <p:txBody>
          <a:bodyPr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sz="1050" dirty="0">
                <a:solidFill>
                  <a:srgbClr val="293960"/>
                </a:solidFill>
                <a:latin typeface="LG Smart UI Regular"/>
                <a:ea typeface="LG Smart UI Regular"/>
              </a:rPr>
              <a:t>*</a:t>
            </a:r>
            <a:r>
              <a:rPr lang="ko-KR" altLang="en-US" sz="1050" dirty="0" err="1">
                <a:solidFill>
                  <a:srgbClr val="3E7C82"/>
                </a:solidFill>
                <a:latin typeface="LG Smart UI Regular"/>
                <a:ea typeface="LG Smart UI Regular"/>
              </a:rPr>
              <a:t>Reframe</a:t>
            </a:r>
            <a:r>
              <a:rPr lang="ko-KR" altLang="en-US" sz="1050" dirty="0">
                <a:solidFill>
                  <a:srgbClr val="3E7C82"/>
                </a:solidFill>
                <a:latin typeface="LG Smart UI Regular"/>
                <a:ea typeface="LG Smart UI Regular"/>
              </a:rPr>
              <a:t> </a:t>
            </a:r>
            <a:r>
              <a:rPr lang="ko-KR" altLang="en-US" sz="1050" dirty="0">
                <a:solidFill>
                  <a:srgbClr val="4A5568"/>
                </a:solidFill>
                <a:latin typeface="LG Smart UI Regular"/>
                <a:ea typeface="LG Smart UI Regular"/>
              </a:rPr>
              <a:t>신경과학 습관변화·비면허 코치+AI 챗봇·절주/단주   </a:t>
            </a:r>
            <a:r>
              <a:rPr lang="ko-KR" altLang="en-US" sz="1050" dirty="0">
                <a:solidFill>
                  <a:srgbClr val="3E7C82"/>
                </a:solidFill>
                <a:latin typeface="LG Smart UI Regular"/>
                <a:ea typeface="LG Smart UI Regular"/>
              </a:rPr>
              <a:t>Sunnyside </a:t>
            </a:r>
            <a:r>
              <a:rPr lang="ko-KR" altLang="en-US" sz="1050" dirty="0">
                <a:solidFill>
                  <a:srgbClr val="4A5568"/>
                </a:solidFill>
                <a:latin typeface="LG Smart UI Regular"/>
                <a:ea typeface="LG Smart UI Regular"/>
              </a:rPr>
              <a:t>문자 절주 코칭(월 $8.50·음주 −33%)   </a:t>
            </a:r>
            <a:endParaRPr lang="en-US" altLang="ko-KR" sz="1050" dirty="0">
              <a:solidFill>
                <a:srgbClr val="4A5568"/>
              </a:solidFill>
              <a:latin typeface="LG Smart UI Regular"/>
              <a:ea typeface="LG Smart UI Regular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050" dirty="0">
                <a:solidFill>
                  <a:srgbClr val="4A5568"/>
                </a:solidFill>
                <a:latin typeface="LG Smart UI Regular"/>
                <a:ea typeface="LG Smart UI Regular"/>
              </a:rPr>
              <a:t> </a:t>
            </a:r>
            <a:r>
              <a:rPr lang="ko-KR" altLang="en-US" sz="1050" dirty="0">
                <a:solidFill>
                  <a:srgbClr val="3E7C82"/>
                </a:solidFill>
                <a:latin typeface="LG Smart UI Regular"/>
                <a:ea typeface="LG Smart UI Regular"/>
              </a:rPr>
              <a:t>국내 DTx </a:t>
            </a:r>
            <a:r>
              <a:rPr lang="ko-KR" altLang="en-US" sz="1050" dirty="0">
                <a:solidFill>
                  <a:srgbClr val="4A5568"/>
                </a:solidFill>
                <a:latin typeface="LG Smart UI Regular"/>
                <a:ea typeface="LG Smart UI Regular"/>
              </a:rPr>
              <a:t>처방형이나 적응증은 불면증 CBT 등   </a:t>
            </a:r>
            <a:r>
              <a:rPr lang="ko-KR" altLang="en-US" sz="1050" dirty="0">
                <a:solidFill>
                  <a:srgbClr val="3E7C82"/>
                </a:solidFill>
                <a:latin typeface="LG Smart UI Regular"/>
                <a:ea typeface="LG Smart UI Regular"/>
              </a:rPr>
              <a:t>일반 챗봇 </a:t>
            </a:r>
            <a:r>
              <a:rPr lang="ko-KR" altLang="en-US" sz="1050" dirty="0">
                <a:solidFill>
                  <a:srgbClr val="4A5568"/>
                </a:solidFill>
                <a:latin typeface="LG Smart UI Regular"/>
                <a:ea typeface="LG Smart UI Regular"/>
              </a:rPr>
              <a:t>범용 대화·임상/안전장치 없음   </a:t>
            </a:r>
          </a:p>
        </p:txBody>
      </p:sp>
    </p:spTree>
    <p:extLst>
      <p:ext uri="{BB962C8B-B14F-4D97-AF65-F5344CB8AC3E}">
        <p14:creationId xmlns:p14="http://schemas.microsoft.com/office/powerpoint/2010/main" val="1293754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22225">
            <a:solidFill>
              <a:srgbClr val="63C9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COST 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앱 운영 원가와 고객 구독 요금</a:t>
            </a:r>
          </a:p>
        </p:txBody>
      </p:sp>
      <p:sp>
        <p:nvSpPr>
          <p:cNvPr id="5" name="Text 3"/>
          <p:cNvSpPr/>
          <p:nvPr/>
        </p:nvSpPr>
        <p:spPr>
          <a:xfrm>
            <a:off x="670560" y="272491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8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₩7,350~9,550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3545409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293960"/>
                </a:solidFill>
                <a:latin typeface="LG Smart UI Regular"/>
                <a:ea typeface="LG Smart UI Regular"/>
              </a:rPr>
              <a:t>기본(메인 12–15턴) 1인·월 운영 원가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3838017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5B6B7B"/>
                </a:solidFill>
                <a:latin typeface="LG Smart UI Regular"/>
                <a:ea typeface="LG Smart UI Regular"/>
              </a:rPr>
              <a:t>적극 상한(20턴) ₩13,800 · 12주 ₩22,050~41,400 · 캐싱 −20%</a:t>
            </a:r>
          </a:p>
        </p:txBody>
      </p:sp>
      <p:sp>
        <p:nvSpPr>
          <p:cNvPr id="9" name="Shape 6"/>
          <p:cNvSpPr/>
          <p:nvPr/>
        </p:nvSpPr>
        <p:spPr>
          <a:xfrm>
            <a:off x="5029200" y="1874520"/>
            <a:ext cx="6492240" cy="4572000"/>
          </a:xfrm>
          <a:prstGeom prst="rect">
            <a:avLst/>
          </a:prstGeom>
          <a:solidFill>
            <a:srgbClr val="EAF3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303520" y="2057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시나리오별 토큰·원가  (환율 ₩1,500/$ · 캐싱 별도)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32ECEE-DB00-5B3F-CA92-B7D2025347EE}"/>
              </a:ext>
            </a:extLst>
          </p:cNvPr>
          <p:cNvSpPr txBox="1"/>
          <p:nvPr/>
        </p:nvSpPr>
        <p:spPr>
          <a:xfrm>
            <a:off x="6998511" y="204770"/>
            <a:ext cx="5588000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-US" altLang="ko-KR" sz="1050" i="1" dirty="0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*</a:t>
            </a:r>
            <a:r>
              <a:rPr lang="ko-KR" altLang="en-US" sz="1050" i="1" dirty="0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턴 계산 기준 </a:t>
            </a:r>
            <a:r>
              <a:rPr lang="en-US" altLang="ko-KR" sz="1050" i="1" dirty="0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:  </a:t>
            </a:r>
            <a:r>
              <a:rPr lang="ko-KR" altLang="en-US" sz="1050" i="1" dirty="0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테스트 대화 기준 평균 </a:t>
            </a:r>
            <a:r>
              <a:rPr lang="en-US" altLang="ko-KR" sz="1050" i="1" dirty="0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12</a:t>
            </a:r>
            <a:r>
              <a:rPr lang="ko-KR" altLang="en-US" sz="1050" i="1" dirty="0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턴 </a:t>
            </a:r>
            <a:r>
              <a:rPr lang="en-US" altLang="ko-KR" sz="1050" i="1" dirty="0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+ </a:t>
            </a:r>
            <a:r>
              <a:rPr lang="ko-KR" altLang="en-US" sz="1050" i="1" dirty="0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갈망 대화  </a:t>
            </a:r>
            <a:r>
              <a:rPr lang="en-US" altLang="ko-KR" sz="1050" i="1" dirty="0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6</a:t>
            </a:r>
            <a:r>
              <a:rPr lang="ko-KR" altLang="en-US" sz="1050" i="1" dirty="0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턴</a:t>
            </a:r>
            <a:endParaRPr lang="en-US" altLang="ko-KR" sz="1050" i="1" dirty="0">
              <a:solidFill>
                <a:schemeClr val="bg2">
                  <a:lumMod val="50000"/>
                </a:schemeClr>
              </a:solidFill>
              <a:latin typeface="LG Smart UI Regular"/>
              <a:ea typeface="LG Smart UI Regular"/>
            </a:endParaRPr>
          </a:p>
          <a:p>
            <a:pPr marL="0" indent="0">
              <a:spcBef>
                <a:spcPts val="800"/>
              </a:spcBef>
              <a:buNone/>
            </a:pPr>
            <a:r>
              <a:rPr lang="ko-KR" altLang="en-US" sz="1050" i="1" dirty="0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적극 상한 기준 </a:t>
            </a:r>
            <a:r>
              <a:rPr lang="en-US" altLang="ko-KR" sz="1050" i="1" dirty="0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: </a:t>
            </a:r>
            <a:r>
              <a:rPr lang="ko-KR" altLang="en-US" sz="1050" i="1" dirty="0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표준 CBT 세션 45~50분(NIAAA CBI 매뉴얼) · 갈망 대화 20~30분 즉각 대처</a:t>
            </a:r>
            <a:endParaRPr lang="en-US" altLang="ko-KR" sz="1050" i="1" dirty="0">
              <a:solidFill>
                <a:schemeClr val="bg2">
                  <a:lumMod val="50000"/>
                </a:schemeClr>
              </a:solidFill>
              <a:latin typeface="LG Smart UI Regular"/>
              <a:ea typeface="LG Smart UI Regular"/>
            </a:endParaRPr>
          </a:p>
          <a:p>
            <a:pPr marL="0" indent="0">
              <a:spcBef>
                <a:spcPts val="800"/>
              </a:spcBef>
              <a:buNone/>
            </a:pPr>
            <a:r>
              <a:rPr lang="ko-KR" altLang="en-US" sz="1050" i="1" dirty="0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채팅 1턴(</a:t>
            </a:r>
            <a:r>
              <a:rPr lang="ko-KR" altLang="en-US" sz="1050" i="1" dirty="0" err="1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읽기+생각+입력+응답</a:t>
            </a:r>
            <a:r>
              <a:rPr lang="ko-KR" altLang="en-US" sz="1050" i="1" dirty="0">
                <a:solidFill>
                  <a:schemeClr val="bg2">
                    <a:lumMod val="50000"/>
                  </a:schemeClr>
                </a:solidFill>
                <a:latin typeface="LG Smart UI Regular"/>
                <a:ea typeface="LG Smart UI Regular"/>
              </a:rPr>
              <a:t>) ≈ 2.5분 → 세션 50분 ÷ 2.5 = 20턴, 갈망 30분 ÷ 2.5 = 12턴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3277CA2-54CA-4646-894A-639537EF510D}"/>
              </a:ext>
            </a:extLst>
          </p:cNvPr>
          <p:cNvGraphicFramePr>
            <a:graphicFrameLocks noGrp="1"/>
          </p:cNvGraphicFramePr>
          <p:nvPr/>
        </p:nvGraphicFramePr>
        <p:xfrm>
          <a:off x="5308600" y="2540000"/>
          <a:ext cx="59436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356621728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0928724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51936391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7713363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61703247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LG Smart UI Regular"/>
                          <a:ea typeface="LG Smart UI Regular"/>
                        </a:rPr>
                        <a:t>시나리오</a:t>
                      </a:r>
                    </a:p>
                  </a:txBody>
                  <a:tcPr anchor="ctr">
                    <a:solidFill>
                      <a:srgbClr val="2939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LG Smart UI Regular"/>
                          <a:ea typeface="LG Smart UI Regular"/>
                        </a:rPr>
                        <a:t>턴(메/갈)</a:t>
                      </a:r>
                    </a:p>
                  </a:txBody>
                  <a:tcPr anchor="ctr">
                    <a:solidFill>
                      <a:srgbClr val="2939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LG Smart UI Regular"/>
                          <a:ea typeface="LG Smart UI Regular"/>
                        </a:rPr>
                        <a:t>총 토큰</a:t>
                      </a:r>
                    </a:p>
                  </a:txBody>
                  <a:tcPr anchor="ctr">
                    <a:solidFill>
                      <a:srgbClr val="2939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LG Smart UI Regular"/>
                          <a:ea typeface="LG Smart UI Regular"/>
                        </a:rPr>
                        <a:t>12주</a:t>
                      </a:r>
                    </a:p>
                  </a:txBody>
                  <a:tcPr anchor="ctr">
                    <a:solidFill>
                      <a:srgbClr val="2939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LG Smart UI Regular"/>
                          <a:ea typeface="LG Smart UI Regular"/>
                        </a:rPr>
                        <a:t>월 원가</a:t>
                      </a:r>
                    </a:p>
                  </a:txBody>
                  <a:tcPr anchor="ctr">
                    <a:solidFill>
                      <a:srgbClr val="2939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59329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</a:rPr>
                        <a:t>기본 하단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</a:rPr>
                        <a:t>12 /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</a:rPr>
                        <a:t>3.2M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</a:rPr>
                        <a:t>₩22,050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</a:rPr>
                        <a:t>₩7,350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50699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</a:rPr>
                        <a:t>기본 상단</a:t>
                      </a:r>
                    </a:p>
                  </a:txBody>
                  <a:tcPr anchor="ctr">
                    <a:solidFill>
                      <a:srgbClr val="F0F5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</a:rPr>
                        <a:t>15 / 8</a:t>
                      </a:r>
                    </a:p>
                  </a:txBody>
                  <a:tcPr anchor="ctr">
                    <a:solidFill>
                      <a:srgbClr val="F0F5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</a:rPr>
                        <a:t>4.5M</a:t>
                      </a:r>
                    </a:p>
                  </a:txBody>
                  <a:tcPr anchor="ctr">
                    <a:solidFill>
                      <a:srgbClr val="F0F5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</a:rPr>
                        <a:t>₩28,650</a:t>
                      </a:r>
                    </a:p>
                  </a:txBody>
                  <a:tcPr anchor="ctr">
                    <a:solidFill>
                      <a:srgbClr val="F0F5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</a:rPr>
                        <a:t>₩9,550</a:t>
                      </a:r>
                    </a:p>
                  </a:txBody>
                  <a:tcPr anchor="ctr">
                    <a:solidFill>
                      <a:srgbClr val="F0F5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67864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</a:rPr>
                        <a:t>적극 상한</a:t>
                      </a:r>
                    </a:p>
                  </a:txBody>
                  <a:tcPr anchor="ctr">
                    <a:solidFill>
                      <a:srgbClr val="DCEF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</a:rPr>
                        <a:t>20 / 12</a:t>
                      </a:r>
                    </a:p>
                  </a:txBody>
                  <a:tcPr anchor="ctr">
                    <a:solidFill>
                      <a:srgbClr val="DCEF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</a:rPr>
                        <a:t>6.46M</a:t>
                      </a:r>
                    </a:p>
                  </a:txBody>
                  <a:tcPr anchor="ctr">
                    <a:solidFill>
                      <a:srgbClr val="DCEF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</a:rPr>
                        <a:t>₩41,400</a:t>
                      </a:r>
                    </a:p>
                  </a:txBody>
                  <a:tcPr anchor="ctr">
                    <a:solidFill>
                      <a:srgbClr val="DCEF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293960"/>
                          </a:solidFill>
                          <a:latin typeface="LG Smart UI Regular"/>
                          <a:ea typeface="LG Smart UI Regular"/>
                        </a:rPr>
                        <a:t>₩13,800</a:t>
                      </a:r>
                    </a:p>
                  </a:txBody>
                  <a:tcPr anchor="ctr">
                    <a:solidFill>
                      <a:srgbClr val="DCE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392412"/>
                  </a:ext>
                </a:extLst>
              </a:tr>
            </a:tbl>
          </a:graphicData>
        </a:graphic>
      </p:graphicFrame>
      <p:sp>
        <p:nvSpPr>
          <p:cNvPr id="30" name="CalcPanel"/>
          <p:cNvSpPr/>
          <p:nvPr/>
        </p:nvSpPr>
        <p:spPr>
          <a:xfrm>
            <a:off x="5283200" y="4238875"/>
            <a:ext cx="59690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63C9CD"/>
            </a:solidFill>
          </a:ln>
        </p:spPr>
        <p:txBody>
          <a:bodyPr lIns="109728" tIns="64008" rIns="109728" bIns="5000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rgbClr val="63C9CD"/>
                </a:solidFill>
                <a:latin typeface="LG Smart UI Regular"/>
                <a:ea typeface="LG Smart UI Regular"/>
              </a:rPr>
              <a:t>단가 적용 — 적극 상한 20턴 기준</a:t>
            </a:r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단가(공개가 $/MTok · 입력/출력): Opus $5 / $25 · Sonnet $3 / $15 · Haiku $1 / $5  </a:t>
            </a:r>
            <a:endParaRPr lang="en-US" altLang="ko-KR" sz="1000" dirty="0">
              <a:solidFill>
                <a:srgbClr val="293960"/>
              </a:solidFill>
              <a:latin typeface="LG Smart UI Regular"/>
              <a:ea typeface="LG Smart UI Regular"/>
            </a:endParaRPr>
          </a:p>
          <a:p>
            <a:pPr marL="0" indent="0">
              <a:lnSpc>
                <a:spcPct val="108000"/>
              </a:lnSpc>
              <a:spcAft>
                <a:spcPts val="300"/>
              </a:spcAft>
              <a:buNone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—  소계 = 입력토큰 × 입력단가 + 출력토큰 × 출력단가</a:t>
            </a:r>
          </a:p>
          <a:p>
            <a:pPr marL="171450" indent="-171450">
              <a:lnSpc>
                <a:spcPct val="108000"/>
              </a:lnSpc>
              <a:spcBef>
                <a:spcPts val="200"/>
              </a:spcBef>
              <a:buFont typeface="Arial"/>
              <a:buChar char="•"/>
            </a:pPr>
            <a:r>
              <a:rPr lang="ko-KR" altLang="en-US" sz="10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Opus (</a:t>
            </a:r>
            <a:r>
              <a:rPr lang="ko-KR" altLang="en-US" sz="1000" b="1" dirty="0" err="1">
                <a:solidFill>
                  <a:srgbClr val="293960"/>
                </a:solidFill>
                <a:latin typeface="LG Smart UI Regular"/>
                <a:ea typeface="LG Smart UI Regular"/>
              </a:rPr>
              <a:t>대화·갈망</a:t>
            </a:r>
            <a:r>
              <a:rPr lang="ko-KR" altLang="en-US" sz="10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) : </a:t>
            </a: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2,555K × $5/M = $12.78 (입력) + 376K × $25/M = $9.40 (출력) = $22.18</a:t>
            </a:r>
          </a:p>
          <a:p>
            <a:pPr marL="171450" indent="-171450">
              <a:lnSpc>
                <a:spcPct val="108000"/>
              </a:lnSpc>
              <a:spcBef>
                <a:spcPts val="200"/>
              </a:spcBef>
              <a:buFont typeface="Arial"/>
              <a:buChar char="•"/>
            </a:pPr>
            <a:r>
              <a:rPr lang="ko-KR" altLang="en-US" sz="10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Haiku (</a:t>
            </a:r>
            <a:r>
              <a:rPr lang="ko-KR" altLang="en-US" sz="1000" b="1" dirty="0" err="1">
                <a:solidFill>
                  <a:srgbClr val="293960"/>
                </a:solidFill>
                <a:latin typeface="LG Smart UI Regular"/>
                <a:ea typeface="LG Smart UI Regular"/>
              </a:rPr>
              <a:t>안전·필터</a:t>
            </a:r>
            <a:r>
              <a:rPr lang="ko-KR" altLang="en-US" sz="10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) : </a:t>
            </a: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2,995K × $1/M = $3.00 + 200K × $5/M = $1.00 = $4.00</a:t>
            </a:r>
          </a:p>
          <a:p>
            <a:pPr marL="171450" indent="-171450">
              <a:lnSpc>
                <a:spcPct val="108000"/>
              </a:lnSpc>
              <a:spcBef>
                <a:spcPts val="200"/>
              </a:spcBef>
              <a:buFont typeface="Arial"/>
              <a:buChar char="•"/>
            </a:pPr>
            <a:r>
              <a:rPr lang="ko-KR" altLang="en-US" sz="10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Sonnet (</a:t>
            </a:r>
            <a:r>
              <a:rPr lang="ko-KR" altLang="en-US" sz="1000" b="1" dirty="0" err="1">
                <a:solidFill>
                  <a:srgbClr val="293960"/>
                </a:solidFill>
                <a:latin typeface="LG Smart UI Regular"/>
                <a:ea typeface="LG Smart UI Regular"/>
              </a:rPr>
              <a:t>단계·요약</a:t>
            </a:r>
            <a:r>
              <a:rPr lang="ko-KR" altLang="en-US" sz="10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) : </a:t>
            </a: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300K × $3/M = $0.90 + 31K × $15/M = $0.47 = $1.37</a:t>
            </a:r>
          </a:p>
          <a:p>
            <a:pPr marL="0" indent="0">
              <a:lnSpc>
                <a:spcPct val="108000"/>
              </a:lnSpc>
              <a:spcBef>
                <a:spcPts val="400"/>
              </a:spcBef>
              <a:buNone/>
            </a:pPr>
            <a:r>
              <a:rPr lang="ko-KR" altLang="en-US" sz="1000" b="1" dirty="0">
                <a:solidFill>
                  <a:srgbClr val="63C9CD"/>
                </a:solidFill>
                <a:latin typeface="LG Smart UI Regular"/>
                <a:ea typeface="LG Smart UI Regular"/>
              </a:rPr>
              <a:t>합계 </a:t>
            </a:r>
            <a:r>
              <a:rPr lang="ko-KR" altLang="en-US" sz="10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$22.18 + $4.00 + $1.37 = $27.55 (1인 12주) → 월 환산 ÷3 = $9.18 → ×₩1,500 = 월 ₩13,770 ·</a:t>
            </a:r>
          </a:p>
          <a:p>
            <a:pPr marL="0" indent="0">
              <a:lnSpc>
                <a:spcPct val="106000"/>
              </a:lnSpc>
              <a:spcBef>
                <a:spcPts val="300"/>
              </a:spcBef>
              <a:buNone/>
            </a:pPr>
            <a:r>
              <a:rPr lang="ko-KR" altLang="en-US" sz="1000" dirty="0">
                <a:solidFill>
                  <a:srgbClr val="5C6B72"/>
                </a:solidFill>
                <a:latin typeface="LG Smart UI Regular"/>
                <a:ea typeface="LG Smart UI Regular"/>
              </a:rPr>
              <a:t>※ 646만 토큰 = 정규 240턴(20×12회) + 갈망 1,008턴(12×84회) · 맥락 누적으로 입력:출력 ≈ 90.6% : 9.4%</a:t>
            </a:r>
          </a:p>
        </p:txBody>
      </p:sp>
      <p:sp>
        <p:nvSpPr>
          <p:cNvPr id="40" name="SubFee"/>
          <p:cNvSpPr/>
          <p:nvPr/>
        </p:nvSpPr>
        <p:spPr>
          <a:xfrm>
            <a:off x="637540" y="4499043"/>
            <a:ext cx="4254500" cy="1701800"/>
          </a:xfrm>
          <a:prstGeom prst="roundRect">
            <a:avLst>
              <a:gd name="adj" fmla="val 7000"/>
            </a:avLst>
          </a:prstGeom>
          <a:solidFill>
            <a:srgbClr val="EAF3B2"/>
          </a:solidFill>
          <a:ln/>
        </p:spPr>
        <p:txBody>
          <a:bodyPr lIns="165100" tIns="114300" rIns="165100" bIns="101600" rtlCol="0" anchor="t">
            <a:normAutofit/>
          </a:bodyPr>
          <a:lstStyle/>
          <a:p>
            <a:pPr marL="0" indent="0">
              <a:buNone/>
            </a:pPr>
            <a:endParaRPr lang="en-US" altLang="ko-KR" sz="1250" b="1" dirty="0">
              <a:solidFill>
                <a:srgbClr val="3E7C82"/>
              </a:solidFill>
              <a:latin typeface="LG Smart UI Regular"/>
              <a:ea typeface="LG Smart UI Regular"/>
            </a:endParaRPr>
          </a:p>
          <a:p>
            <a:pPr marL="0" indent="0">
              <a:buNone/>
            </a:pPr>
            <a:r>
              <a:rPr lang="ko-KR" altLang="en-US" sz="1250" b="1" dirty="0">
                <a:solidFill>
                  <a:srgbClr val="3E7C82"/>
                </a:solidFill>
                <a:latin typeface="LG Smart UI Regular"/>
                <a:ea typeface="LG Smart UI Regular"/>
              </a:rPr>
              <a:t>실제 고객이 내는 구독 요금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28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월 ₩19,900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ko-KR" altLang="en-US" sz="1150" dirty="0">
                <a:solidFill>
                  <a:srgbClr val="293960"/>
                </a:solidFill>
                <a:latin typeface="LG Smart UI Regular"/>
                <a:ea typeface="LG Smart UI Regular"/>
              </a:rPr>
              <a:t>연 ₩179,000 · 월 환산 ₩14,900 (약 25%↓)</a:t>
            </a:r>
          </a:p>
        </p:txBody>
      </p:sp>
    </p:spTree>
    <p:extLst>
      <p:ext uri="{BB962C8B-B14F-4D97-AF65-F5344CB8AC3E}">
        <p14:creationId xmlns:p14="http://schemas.microsoft.com/office/powerpoint/2010/main" val="1309296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D3AC38-7D4E-4FAC-B74E-54D56EAB3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C72BAC-6770-5F44-DBAB-2CE62B6F1A0D}"/>
              </a:ext>
            </a:extLst>
          </p:cNvPr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22225">
            <a:solidFill>
              <a:srgbClr val="63C9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Kicker"/>
          <p:cNvSpPr/>
          <p:nvPr/>
        </p:nvSpPr>
        <p:spPr>
          <a:xfrm>
            <a:off x="635000" y="469900"/>
            <a:ext cx="10883900" cy="304800"/>
          </a:xfrm>
          <a:prstGeom prst="rect">
            <a:avLst/>
          </a:prstGeom>
          <a:noFill/>
          <a:ln/>
        </p:spPr>
        <p:txBody>
          <a:bodyPr rtlCol="0"/>
          <a:lstStyle/>
          <a:p>
            <a:pPr marL="0" indent="0">
              <a:buNone/>
            </a:pPr>
            <a:r>
              <a:rPr lang="en-US" sz="1200" b="1" spc="300" dirty="0">
                <a:solidFill>
                  <a:srgbClr val="63C9CD"/>
                </a:solidFill>
                <a:latin typeface="LG Smart UI Regular"/>
                <a:ea typeface="LG Smart UI Regular"/>
              </a:rPr>
              <a:t>VALUE </a:t>
            </a:r>
          </a:p>
        </p:txBody>
      </p:sp>
      <p:sp>
        <p:nvSpPr>
          <p:cNvPr id="102" name="Title"/>
          <p:cNvSpPr/>
          <p:nvPr/>
        </p:nvSpPr>
        <p:spPr>
          <a:xfrm>
            <a:off x="635000" y="838200"/>
            <a:ext cx="10909300" cy="863600"/>
          </a:xfrm>
          <a:prstGeom prst="rect">
            <a:avLst/>
          </a:prstGeom>
          <a:noFill/>
          <a:ln/>
        </p:spPr>
        <p:txBody>
          <a:bodyPr rtlCol="0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고객 이득</a:t>
            </a:r>
          </a:p>
        </p:txBody>
      </p:sp>
      <p:sp>
        <p:nvSpPr>
          <p:cNvPr id="120" name="Killer"/>
          <p:cNvSpPr/>
          <p:nvPr/>
        </p:nvSpPr>
        <p:spPr>
          <a:xfrm>
            <a:off x="635000" y="1574800"/>
            <a:ext cx="10883900" cy="558800"/>
          </a:xfrm>
          <a:prstGeom prst="roundRect">
            <a:avLst>
              <a:gd name="adj" fmla="val 14000"/>
            </a:avLst>
          </a:prstGeom>
          <a:solidFill>
            <a:srgbClr val="293960"/>
          </a:solidFill>
          <a:ln/>
        </p:spPr>
        <p:txBody>
          <a:bodyPr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LG Smart UI Regular"/>
                <a:ea typeface="LG Smart UI Regular"/>
              </a:rPr>
              <a:t>앱 월 </a:t>
            </a:r>
            <a:r>
              <a:rPr lang="ko-KR" altLang="en-US" sz="1600" b="1" dirty="0">
                <a:solidFill>
                  <a:srgbClr val="63C9CD"/>
                </a:solidFill>
                <a:latin typeface="LG Smart UI Regular"/>
                <a:ea typeface="LG Smart UI Regular"/>
              </a:rPr>
              <a:t>₩19,900</a:t>
            </a:r>
            <a:r>
              <a:rPr lang="ko-KR" altLang="en-US" sz="1600" b="1" dirty="0">
                <a:solidFill>
                  <a:srgbClr val="FFFFFF"/>
                </a:solidFill>
                <a:latin typeface="LG Smart UI Regular"/>
                <a:ea typeface="LG Smart UI Regular"/>
              </a:rPr>
              <a:t> ≈ 술자리 한 번 값  </a:t>
            </a:r>
            <a:r>
              <a:rPr lang="en-US" altLang="ko-KR" sz="1600" b="1" dirty="0">
                <a:solidFill>
                  <a:srgbClr val="FFFFFF"/>
                </a:solidFill>
                <a:latin typeface="LG Smart UI Regular"/>
                <a:ea typeface="LG Smart UI Regular"/>
              </a:rPr>
              <a:t>&gt;</a:t>
            </a:r>
            <a:r>
              <a:rPr lang="ko-KR" altLang="en-US" sz="1600" b="1" dirty="0">
                <a:solidFill>
                  <a:srgbClr val="FFFFFF"/>
                </a:solidFill>
                <a:latin typeface="LG Smart UI Regular"/>
                <a:ea typeface="LG Smart UI Regular"/>
              </a:rPr>
              <a:t>  한 달에 한 번만 줄여도 본전</a:t>
            </a:r>
          </a:p>
        </p:txBody>
      </p:sp>
      <p:sp>
        <p:nvSpPr>
          <p:cNvPr id="121" name="Card121"/>
          <p:cNvSpPr/>
          <p:nvPr/>
        </p:nvSpPr>
        <p:spPr>
          <a:xfrm>
            <a:off x="820327" y="2578100"/>
            <a:ext cx="3377412" cy="3344392"/>
          </a:xfrm>
          <a:prstGeom prst="roundRect">
            <a:avLst>
              <a:gd name="adj" fmla="val 6000"/>
            </a:avLst>
          </a:prstGeom>
          <a:solidFill>
            <a:srgbClr val="EAF3B2"/>
          </a:solidFill>
          <a:ln/>
        </p:spPr>
        <p:txBody>
          <a:bodyPr lIns="118872" tIns="812800" rIns="118872" bIns="91440" rtlCol="0" anchor="t">
            <a:normAutofit/>
          </a:bodyPr>
          <a:lstStyle/>
          <a:p>
            <a:pPr marL="0" indent="0" algn="ctr">
              <a:buNone/>
            </a:pPr>
            <a:endParaRPr lang="en-US" altLang="ko-KR" sz="2000" b="1" dirty="0">
              <a:solidFill>
                <a:srgbClr val="293960"/>
              </a:solidFill>
              <a:latin typeface="LG Smart UI Regular"/>
              <a:ea typeface="LG Smart UI Regular"/>
            </a:endParaRPr>
          </a:p>
          <a:p>
            <a:pPr marL="0" indent="0" algn="ctr">
              <a:buNone/>
            </a:pPr>
            <a:r>
              <a:rPr lang="ko-KR" altLang="en-US" sz="20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직접 절약</a:t>
            </a:r>
          </a:p>
          <a:p>
            <a:pPr marL="0" indent="0" algn="ctr">
              <a:lnSpc>
                <a:spcPct val="112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293960"/>
                </a:solidFill>
                <a:latin typeface="LG Smart UI Regular"/>
                <a:ea typeface="LG Smart UI Regular"/>
              </a:rPr>
              <a:t>음주 절반만 줄여도 </a:t>
            </a:r>
            <a:endParaRPr lang="en-US" altLang="ko-KR" sz="1600" dirty="0">
              <a:solidFill>
                <a:srgbClr val="293960"/>
              </a:solidFill>
              <a:latin typeface="LG Smart UI Regular"/>
              <a:ea typeface="LG Smart UI Regular"/>
            </a:endParaRPr>
          </a:p>
          <a:p>
            <a:pPr marL="0" indent="0" algn="ctr">
              <a:lnSpc>
                <a:spcPct val="112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293960"/>
                </a:solidFill>
                <a:latin typeface="LG Smart UI Regular"/>
                <a:ea typeface="LG Smart UI Regular"/>
              </a:rPr>
              <a:t>월 6만~30만원+ 절약 </a:t>
            </a:r>
            <a:endParaRPr lang="en-US" altLang="ko-KR" sz="1600" dirty="0">
              <a:solidFill>
                <a:srgbClr val="293960"/>
              </a:solidFill>
              <a:latin typeface="LG Smart UI Regular"/>
              <a:ea typeface="LG Smart UI Regular"/>
            </a:endParaRPr>
          </a:p>
          <a:p>
            <a:pPr marL="0" indent="0" algn="ctr">
              <a:lnSpc>
                <a:spcPct val="112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293960"/>
                </a:solidFill>
                <a:latin typeface="LG Smart UI Regular"/>
                <a:ea typeface="LG Smart UI Regular"/>
              </a:rPr>
              <a:t>— 앱값의 3~15배+</a:t>
            </a:r>
          </a:p>
        </p:txBody>
      </p:sp>
      <p:sp>
        <p:nvSpPr>
          <p:cNvPr id="122" name="Card122"/>
          <p:cNvSpPr/>
          <p:nvPr/>
        </p:nvSpPr>
        <p:spPr>
          <a:xfrm>
            <a:off x="4410666" y="2578100"/>
            <a:ext cx="3377412" cy="3344392"/>
          </a:xfrm>
          <a:prstGeom prst="roundRect">
            <a:avLst>
              <a:gd name="adj" fmla="val 6000"/>
            </a:avLst>
          </a:prstGeom>
          <a:solidFill>
            <a:srgbClr val="EAF3B2"/>
          </a:solidFill>
          <a:ln/>
        </p:spPr>
        <p:txBody>
          <a:bodyPr lIns="118872" tIns="812800" rIns="118872" bIns="91440" rtlCol="0" anchor="t">
            <a:normAutofit/>
          </a:bodyPr>
          <a:lstStyle/>
          <a:p>
            <a:pPr marL="0" indent="0" algn="ctr">
              <a:buNone/>
            </a:pPr>
            <a:endParaRPr lang="en-US" altLang="ko-KR" sz="2000" b="1" dirty="0">
              <a:solidFill>
                <a:srgbClr val="293960"/>
              </a:solidFill>
              <a:latin typeface="LG Smart UI Regular"/>
              <a:ea typeface="LG Smart UI Regular"/>
            </a:endParaRPr>
          </a:p>
          <a:p>
            <a:pPr marL="0" indent="0" algn="ctr">
              <a:buNone/>
            </a:pPr>
            <a:r>
              <a:rPr lang="ko-KR" altLang="en-US" sz="20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회피한 리스크</a:t>
            </a:r>
          </a:p>
          <a:p>
            <a:pPr marL="0" indent="0" algn="ctr">
              <a:lnSpc>
                <a:spcPct val="112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293960"/>
                </a:solidFill>
                <a:latin typeface="LG Smart UI Regular"/>
                <a:ea typeface="LG Smart UI Regular"/>
              </a:rPr>
              <a:t>음주운전 단 한 번 </a:t>
            </a:r>
            <a:endParaRPr lang="en-US" altLang="ko-KR" sz="1600" dirty="0">
              <a:solidFill>
                <a:srgbClr val="293960"/>
              </a:solidFill>
              <a:latin typeface="LG Smart UI Regular"/>
              <a:ea typeface="LG Smart UI Regular"/>
            </a:endParaRPr>
          </a:p>
          <a:p>
            <a:pPr marL="0" indent="0" algn="ctr">
              <a:lnSpc>
                <a:spcPct val="112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293960"/>
                </a:solidFill>
                <a:latin typeface="LG Smart UI Regular"/>
                <a:ea typeface="LG Smart UI Regular"/>
              </a:rPr>
              <a:t>= 벌금 최대 3천만원 · 면허취소 · 전과</a:t>
            </a:r>
          </a:p>
        </p:txBody>
      </p:sp>
      <p:sp>
        <p:nvSpPr>
          <p:cNvPr id="123" name="Card123"/>
          <p:cNvSpPr/>
          <p:nvPr/>
        </p:nvSpPr>
        <p:spPr>
          <a:xfrm>
            <a:off x="8001005" y="2584406"/>
            <a:ext cx="3377412" cy="3344392"/>
          </a:xfrm>
          <a:prstGeom prst="roundRect">
            <a:avLst>
              <a:gd name="adj" fmla="val 6000"/>
            </a:avLst>
          </a:prstGeom>
          <a:solidFill>
            <a:srgbClr val="EAF3B2"/>
          </a:solidFill>
          <a:ln/>
        </p:spPr>
        <p:txBody>
          <a:bodyPr lIns="118872" tIns="812800" rIns="118872" bIns="91440" rtlCol="0" anchor="t">
            <a:normAutofit/>
          </a:bodyPr>
          <a:lstStyle/>
          <a:p>
            <a:pPr marL="0" indent="0" algn="ctr">
              <a:buNone/>
            </a:pPr>
            <a:endParaRPr lang="en-US" altLang="ko-KR" sz="2000" b="1" dirty="0">
              <a:solidFill>
                <a:srgbClr val="293960"/>
              </a:solidFill>
              <a:latin typeface="LG Smart UI Regular"/>
              <a:ea typeface="LG Smart UI Regular"/>
            </a:endParaRPr>
          </a:p>
          <a:p>
            <a:pPr marL="0" indent="0" algn="ctr">
              <a:buNone/>
            </a:pPr>
            <a:r>
              <a:rPr lang="ko-KR" altLang="en-US" sz="20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몸 · 시간 · 관계</a:t>
            </a:r>
          </a:p>
          <a:p>
            <a:pPr marL="0" indent="0" algn="ctr">
              <a:lnSpc>
                <a:spcPct val="112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293960"/>
                </a:solidFill>
                <a:latin typeface="LG Smart UI Regular"/>
                <a:ea typeface="LG Smart UI Regular"/>
              </a:rPr>
              <a:t>숙취 없는 아침 · 소주 1병 300~400kcal · 쌓이는 단주 일수 </a:t>
            </a:r>
            <a:endParaRPr lang="en-US" altLang="ko-KR" sz="1600" dirty="0">
              <a:solidFill>
                <a:srgbClr val="293960"/>
              </a:solidFill>
              <a:latin typeface="LG Smart UI Regular"/>
              <a:ea typeface="LG Smart UI Regular"/>
            </a:endParaRPr>
          </a:p>
          <a:p>
            <a:pPr marL="0" indent="0" algn="ctr">
              <a:lnSpc>
                <a:spcPct val="112000"/>
              </a:lnSpc>
              <a:spcBef>
                <a:spcPts val="600"/>
              </a:spcBef>
              <a:buNone/>
            </a:pPr>
            <a:r>
              <a:rPr lang="ko-KR" altLang="en-US" sz="1600" dirty="0">
                <a:solidFill>
                  <a:srgbClr val="293960"/>
                </a:solidFill>
                <a:latin typeface="LG Smart UI Regular"/>
                <a:ea typeface="LG Smart UI Regular"/>
              </a:rPr>
              <a:t>= 자기효능감</a:t>
            </a:r>
          </a:p>
        </p:txBody>
      </p:sp>
      <p:pic>
        <p:nvPicPr>
          <p:cNvPr id="127" name="Graphic 127" descr="직접 절약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1150" y="2713712"/>
            <a:ext cx="735766" cy="735766"/>
          </a:xfrm>
          <a:prstGeom prst="rect">
            <a:avLst/>
          </a:prstGeom>
        </p:spPr>
      </p:pic>
      <p:pic>
        <p:nvPicPr>
          <p:cNvPr id="128" name="Graphic 128" descr="몸 시간 관계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5084" y="2693234"/>
            <a:ext cx="735766" cy="735766"/>
          </a:xfrm>
          <a:prstGeom prst="rect">
            <a:avLst/>
          </a:prstGeom>
        </p:spPr>
      </p:pic>
      <p:pic>
        <p:nvPicPr>
          <p:cNvPr id="130" name="Graphic 130" descr="회피한 리스크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1489" y="2717800"/>
            <a:ext cx="735766" cy="73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0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ivacy">
    <p:bg>
      <p:bgPr>
        <a:solidFill>
          <a:srgbClr val="F7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rder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22225">
            <a:solidFill>
              <a:srgbClr val="63C9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Label"/>
          <p:cNvSpPr/>
          <p:nvPr/>
        </p:nvSpPr>
        <p:spPr>
          <a:xfrm>
            <a:off x="640080" y="4754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3C9CD"/>
                </a:solidFill>
                <a:latin typeface="LG Smart UI Regular"/>
                <a:ea typeface="LG Smart UI Regular"/>
              </a:rPr>
              <a:t>PRIVACY</a:t>
            </a:r>
          </a:p>
        </p:txBody>
      </p:sp>
      <p:sp>
        <p:nvSpPr>
          <p:cNvPr id="4" name="Title"/>
          <p:cNvSpPr/>
          <p:nvPr/>
        </p:nvSpPr>
        <p:spPr>
          <a:xfrm>
            <a:off x="640080" y="841248"/>
            <a:ext cx="10911535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데이터 신뢰</a:t>
            </a:r>
          </a:p>
        </p:txBody>
      </p:sp>
      <p:sp>
        <p:nvSpPr>
          <p:cNvPr id="5" name="Banner"/>
          <p:cNvSpPr/>
          <p:nvPr/>
        </p:nvSpPr>
        <p:spPr>
          <a:xfrm>
            <a:off x="640080" y="1700000"/>
            <a:ext cx="10764920" cy="470000"/>
          </a:xfrm>
          <a:prstGeom prst="roundRect">
            <a:avLst>
              <a:gd name="adj" fmla="val 18000"/>
            </a:avLst>
          </a:prstGeom>
          <a:solidFill>
            <a:srgbClr val="293960"/>
          </a:solidFill>
          <a:ln/>
        </p:spPr>
        <p:txBody>
          <a:bodyPr wrap="square" lIns="219456" tIns="0" rIns="219456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F7FFE7"/>
                </a:solidFill>
                <a:latin typeface="LG Smart UI Regular"/>
                <a:ea typeface="LG Smart UI Regular"/>
              </a:rPr>
              <a:t>앱 활용 데이터 </a:t>
            </a:r>
            <a:r>
              <a:rPr lang="en-US" altLang="ko-KR" sz="1150" b="1" dirty="0">
                <a:solidFill>
                  <a:srgbClr val="F7FFE7"/>
                </a:solidFill>
                <a:latin typeface="LG Smart UI Regular"/>
                <a:ea typeface="LG Smart UI Regular"/>
              </a:rPr>
              <a:t>:</a:t>
            </a:r>
            <a:r>
              <a:rPr lang="ko-KR" altLang="en-US" sz="1150" b="1" dirty="0">
                <a:solidFill>
                  <a:srgbClr val="F7FFE7"/>
                </a:solidFill>
                <a:latin typeface="LG Smart UI Regular"/>
                <a:ea typeface="LG Smart UI Regular"/>
              </a:rPr>
              <a:t> 일반 개인정보가 아닌 '건강' 민감정보 </a:t>
            </a:r>
            <a:r>
              <a:rPr lang="en-US" altLang="ko-KR" sz="1150" b="1">
                <a:solidFill>
                  <a:srgbClr val="F7FFE7"/>
                </a:solidFill>
                <a:latin typeface="LG Smart UI Regular"/>
                <a:ea typeface="LG Smart UI Regular"/>
              </a:rPr>
              <a:t>&gt;</a:t>
            </a:r>
            <a:r>
              <a:rPr lang="ko-KR" altLang="en-US" sz="1150" b="1">
                <a:solidFill>
                  <a:srgbClr val="F7FFE7"/>
                </a:solidFill>
                <a:latin typeface="LG Smart UI Regular"/>
                <a:ea typeface="LG Smart UI Regular"/>
              </a:rPr>
              <a:t> </a:t>
            </a:r>
            <a:r>
              <a:rPr lang="ko-KR" altLang="en-US" sz="1150" b="1" dirty="0">
                <a:solidFill>
                  <a:srgbClr val="F7FFE7"/>
                </a:solidFill>
                <a:latin typeface="LG Smart UI Regular"/>
                <a:ea typeface="LG Smart UI Regular"/>
              </a:rPr>
              <a:t>동의·보안·비밀유지 3중 설계</a:t>
            </a:r>
          </a:p>
        </p:txBody>
      </p:sp>
      <p:sp>
        <p:nvSpPr>
          <p:cNvPr id="10" name="Card1"/>
          <p:cNvSpPr/>
          <p:nvPr/>
        </p:nvSpPr>
        <p:spPr>
          <a:xfrm>
            <a:off x="640080" y="2430000"/>
            <a:ext cx="3380000" cy="3850000"/>
          </a:xfrm>
          <a:prstGeom prst="roundRect">
            <a:avLst>
              <a:gd name="adj" fmla="val 6000"/>
            </a:avLst>
          </a:prstGeom>
          <a:solidFill>
            <a:srgbClr val="EAF3B2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11" name="Badge1"/>
          <p:cNvSpPr/>
          <p:nvPr/>
        </p:nvSpPr>
        <p:spPr>
          <a:xfrm>
            <a:off x="860080" y="2650000"/>
            <a:ext cx="560000" cy="560000"/>
          </a:xfrm>
          <a:prstGeom prst="ellipse">
            <a:avLst/>
          </a:prstGeom>
          <a:solidFill>
            <a:srgbClr val="29396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FE7"/>
                </a:solidFill>
                <a:latin typeface="LG Smart UI Regular"/>
                <a:ea typeface="LG Smart UI Regular"/>
              </a:rPr>
              <a:t>01</a:t>
            </a:r>
          </a:p>
        </p:txBody>
      </p:sp>
      <p:sp>
        <p:nvSpPr>
          <p:cNvPr id="12" name="Head1"/>
          <p:cNvSpPr/>
          <p:nvPr/>
        </p:nvSpPr>
        <p:spPr>
          <a:xfrm>
            <a:off x="1540080" y="2670000"/>
            <a:ext cx="236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동의</a:t>
            </a:r>
          </a:p>
        </p:txBody>
      </p:sp>
      <p:sp>
        <p:nvSpPr>
          <p:cNvPr id="13" name="Sub1"/>
          <p:cNvSpPr/>
          <p:nvPr/>
        </p:nvSpPr>
        <p:spPr>
          <a:xfrm>
            <a:off x="880080" y="3340000"/>
            <a:ext cx="2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2A9298"/>
                </a:solidFill>
                <a:latin typeface="LG Smart UI Regular"/>
                <a:ea typeface="LG Smart UI Regular"/>
              </a:rPr>
              <a:t>개인정보보호법 · 항목별 구분 동의</a:t>
            </a:r>
          </a:p>
        </p:txBody>
      </p:sp>
      <p:sp>
        <p:nvSpPr>
          <p:cNvPr id="14" name="Bul1"/>
          <p:cNvSpPr/>
          <p:nvPr/>
        </p:nvSpPr>
        <p:spPr>
          <a:xfrm>
            <a:off x="880080" y="3720000"/>
            <a:ext cx="2900000" cy="2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0000" indent="-200000">
              <a:lnSpc>
                <a:spcPct val="128000"/>
              </a:lnSpc>
              <a:spcBef>
                <a:spcPts val="2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수집·이용 동의 (§15)</a:t>
            </a:r>
          </a:p>
          <a:p>
            <a:pPr marL="200000" indent="-200000">
              <a:lnSpc>
                <a:spcPct val="128000"/>
              </a:lnSpc>
              <a:spcBef>
                <a:spcPts val="2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민감정보(건강) 별도 동의 (§23)</a:t>
            </a:r>
          </a:p>
          <a:p>
            <a:pPr marL="200000" indent="-200000">
              <a:lnSpc>
                <a:spcPct val="128000"/>
              </a:lnSpc>
              <a:spcBef>
                <a:spcPts val="2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담당 의료진 제공 동의 (§17)</a:t>
            </a:r>
          </a:p>
          <a:p>
            <a:pPr marL="200000" indent="-200000">
              <a:lnSpc>
                <a:spcPct val="128000"/>
              </a:lnSpc>
              <a:spcBef>
                <a:spcPts val="2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민감정보 국외이전(미국) 별도 동의 (§28의8)</a:t>
            </a:r>
          </a:p>
          <a:p>
            <a:pPr marL="200000" indent="-200000">
              <a:lnSpc>
                <a:spcPct val="128000"/>
              </a:lnSpc>
              <a:spcBef>
                <a:spcPts val="2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위기 시 안전조치 고지 (§18)</a:t>
            </a:r>
          </a:p>
          <a:p>
            <a:pPr marL="200000" indent="-200000">
              <a:lnSpc>
                <a:spcPct val="128000"/>
              </a:lnSpc>
              <a:spcBef>
                <a:spcPts val="2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만 19세 이상 · 열람·정정·삭제·철회 권리 보장</a:t>
            </a:r>
          </a:p>
        </p:txBody>
      </p:sp>
      <p:sp>
        <p:nvSpPr>
          <p:cNvPr id="20" name="Card2"/>
          <p:cNvSpPr/>
          <p:nvPr/>
        </p:nvSpPr>
        <p:spPr>
          <a:xfrm>
            <a:off x="4332540" y="2430000"/>
            <a:ext cx="3380000" cy="3850000"/>
          </a:xfrm>
          <a:prstGeom prst="roundRect">
            <a:avLst>
              <a:gd name="adj" fmla="val 6000"/>
            </a:avLst>
          </a:prstGeom>
          <a:solidFill>
            <a:srgbClr val="EAF3B2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21" name="Badge2"/>
          <p:cNvSpPr/>
          <p:nvPr/>
        </p:nvSpPr>
        <p:spPr>
          <a:xfrm>
            <a:off x="4552540" y="2650000"/>
            <a:ext cx="560000" cy="560000"/>
          </a:xfrm>
          <a:prstGeom prst="ellipse">
            <a:avLst/>
          </a:prstGeom>
          <a:solidFill>
            <a:srgbClr val="29396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FE7"/>
                </a:solidFill>
                <a:latin typeface="LG Smart UI Regular"/>
                <a:ea typeface="LG Smart UI Regular"/>
              </a:rPr>
              <a:t>02</a:t>
            </a:r>
          </a:p>
        </p:txBody>
      </p:sp>
      <p:sp>
        <p:nvSpPr>
          <p:cNvPr id="22" name="Head2"/>
          <p:cNvSpPr/>
          <p:nvPr/>
        </p:nvSpPr>
        <p:spPr>
          <a:xfrm>
            <a:off x="5232540" y="2670000"/>
            <a:ext cx="236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보안</a:t>
            </a:r>
          </a:p>
        </p:txBody>
      </p:sp>
      <p:sp>
        <p:nvSpPr>
          <p:cNvPr id="23" name="Sub2"/>
          <p:cNvSpPr/>
          <p:nvPr/>
        </p:nvSpPr>
        <p:spPr>
          <a:xfrm>
            <a:off x="4572540" y="3340000"/>
            <a:ext cx="2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2A9298"/>
                </a:solidFill>
                <a:latin typeface="LG Smart UI Regular"/>
                <a:ea typeface="LG Smart UI Regular"/>
              </a:rPr>
              <a:t>안전성 확보조치 기준 (고시 2025-9호)</a:t>
            </a:r>
          </a:p>
        </p:txBody>
      </p:sp>
      <p:sp>
        <p:nvSpPr>
          <p:cNvPr id="24" name="Bul2"/>
          <p:cNvSpPr/>
          <p:nvPr/>
        </p:nvSpPr>
        <p:spPr>
          <a:xfrm>
            <a:off x="4572540" y="3720000"/>
            <a:ext cx="2900000" cy="2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0000" indent="-200000">
              <a:lnSpc>
                <a:spcPct val="128000"/>
              </a:lnSpc>
              <a:spcBef>
                <a:spcPts val="2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이름·전화·위기 발화 Fernet 암호화 저장 (§7)</a:t>
            </a:r>
          </a:p>
          <a:p>
            <a:pPr marL="200000" indent="-200000">
              <a:lnSpc>
                <a:spcPct val="128000"/>
              </a:lnSpc>
              <a:spcBef>
                <a:spcPts val="2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외부 LLM 호출 전 식별자 비식별화 게이트웨이 (§28의8)</a:t>
            </a:r>
          </a:p>
          <a:p>
            <a:pPr marL="200000" indent="-200000">
              <a:lnSpc>
                <a:spcPct val="128000"/>
              </a:lnSpc>
              <a:spcBef>
                <a:spcPts val="2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비밀번호·PIN bcrypt 해시 · 역할별 JWT (§5·§6)</a:t>
            </a:r>
          </a:p>
          <a:p>
            <a:pPr marL="200000" indent="-200000">
              <a:lnSpc>
                <a:spcPct val="128000"/>
              </a:lnSpc>
              <a:spcBef>
                <a:spcPts val="2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전송보안 — HTTPS·보안 쿠키·CORS·보안 헤더</a:t>
            </a:r>
          </a:p>
        </p:txBody>
      </p:sp>
      <p:sp>
        <p:nvSpPr>
          <p:cNvPr id="30" name="Card3"/>
          <p:cNvSpPr/>
          <p:nvPr/>
        </p:nvSpPr>
        <p:spPr>
          <a:xfrm>
            <a:off x="8025000" y="2430000"/>
            <a:ext cx="3380000" cy="3850000"/>
          </a:xfrm>
          <a:prstGeom prst="roundRect">
            <a:avLst>
              <a:gd name="adj" fmla="val 6000"/>
            </a:avLst>
          </a:prstGeom>
          <a:solidFill>
            <a:srgbClr val="EAF3B2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31" name="Badge3"/>
          <p:cNvSpPr/>
          <p:nvPr/>
        </p:nvSpPr>
        <p:spPr>
          <a:xfrm>
            <a:off x="8245000" y="2650000"/>
            <a:ext cx="560000" cy="560000"/>
          </a:xfrm>
          <a:prstGeom prst="ellipse">
            <a:avLst/>
          </a:prstGeom>
          <a:solidFill>
            <a:srgbClr val="29396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FE7"/>
                </a:solidFill>
                <a:latin typeface="LG Smart UI Regular"/>
                <a:ea typeface="LG Smart UI Regular"/>
              </a:rPr>
              <a:t>03</a:t>
            </a:r>
          </a:p>
        </p:txBody>
      </p:sp>
      <p:sp>
        <p:nvSpPr>
          <p:cNvPr id="32" name="Head3"/>
          <p:cNvSpPr/>
          <p:nvPr/>
        </p:nvSpPr>
        <p:spPr>
          <a:xfrm>
            <a:off x="8925000" y="2670000"/>
            <a:ext cx="236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비밀유지</a:t>
            </a:r>
          </a:p>
        </p:txBody>
      </p:sp>
      <p:sp>
        <p:nvSpPr>
          <p:cNvPr id="33" name="Sub3"/>
          <p:cNvSpPr/>
          <p:nvPr/>
        </p:nvSpPr>
        <p:spPr>
          <a:xfrm>
            <a:off x="8265000" y="3340000"/>
            <a:ext cx="2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2A9298"/>
                </a:solidFill>
                <a:latin typeface="LG Smart UI Regular"/>
                <a:ea typeface="LG Smart UI Regular"/>
              </a:rPr>
              <a:t>접근통제 · 기록 · 파기</a:t>
            </a:r>
          </a:p>
        </p:txBody>
      </p:sp>
      <p:sp>
        <p:nvSpPr>
          <p:cNvPr id="34" name="Bul3"/>
          <p:cNvSpPr/>
          <p:nvPr/>
        </p:nvSpPr>
        <p:spPr>
          <a:xfrm>
            <a:off x="8265000" y="3720000"/>
            <a:ext cx="2900000" cy="2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0000" indent="-200000">
              <a:lnSpc>
                <a:spcPct val="128000"/>
              </a:lnSpc>
              <a:spcBef>
                <a:spcPts val="2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RBAC — 담당 환자만 열람 (IDOR 차단, §5·§6)</a:t>
            </a:r>
          </a:p>
          <a:p>
            <a:pPr marL="200000" indent="-200000">
              <a:lnSpc>
                <a:spcPct val="128000"/>
              </a:lnSpc>
              <a:spcBef>
                <a:spcPts val="2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민감 행위 append-only 접속기록 (§8)</a:t>
            </a:r>
          </a:p>
          <a:p>
            <a:pPr marL="200000" indent="-200000">
              <a:lnSpc>
                <a:spcPct val="128000"/>
              </a:lnSpc>
              <a:spcBef>
                <a:spcPts val="2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키 미설정 시 기동 거부 (fail-fast)</a:t>
            </a:r>
          </a:p>
          <a:p>
            <a:pPr marL="200000" indent="-200000">
              <a:lnSpc>
                <a:spcPct val="128000"/>
              </a:lnSpc>
              <a:spcBef>
                <a:spcPts val="2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000" dirty="0">
                <a:solidFill>
                  <a:srgbClr val="293960"/>
                </a:solidFill>
                <a:latin typeface="LG Smart UI Regular"/>
                <a:ea typeface="LG Smart UI Regular"/>
              </a:rPr>
              <a:t>회원 삭제 시 관련 레코드 비가역 파기 (§21)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22225">
            <a:solidFill>
              <a:srgbClr val="63C9C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3C9CD"/>
                </a:solidFill>
                <a:latin typeface="LG Smart UI Regular"/>
                <a:ea typeface="LG Smart UI Regular"/>
                <a:cs typeface="Pretendard" pitchFamily="34" charset="-120"/>
              </a:rPr>
              <a:t>EXPANSION 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확장 로드맵</a:t>
            </a:r>
            <a:endParaRPr lang="en-US" sz="3400" b="1" dirty="0">
              <a:latin typeface="LG Smart UI Regular"/>
              <a:ea typeface="LG Smart UI Regular"/>
            </a:endParaRPr>
          </a:p>
        </p:txBody>
      </p:sp>
      <p:sp>
        <p:nvSpPr>
          <p:cNvPr id="30" name="Card0"/>
          <p:cNvSpPr/>
          <p:nvPr/>
        </p:nvSpPr>
        <p:spPr>
          <a:xfrm>
            <a:off x="774700" y="2349500"/>
            <a:ext cx="1993900" cy="3073400"/>
          </a:xfrm>
          <a:prstGeom prst="roundRect">
            <a:avLst>
              <a:gd name="adj" fmla="val 7000"/>
            </a:avLst>
          </a:prstGeom>
          <a:solidFill>
            <a:srgbClr val="EAF3B2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40" name="Circ0"/>
          <p:cNvSpPr/>
          <p:nvPr/>
        </p:nvSpPr>
        <p:spPr>
          <a:xfrm>
            <a:off x="1454150" y="2565400"/>
            <a:ext cx="635000" cy="635000"/>
          </a:xfrm>
          <a:prstGeom prst="ellipse">
            <a:avLst/>
          </a:prstGeom>
          <a:solidFill>
            <a:srgbClr val="293960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50" name="Tt0"/>
          <p:cNvSpPr/>
          <p:nvPr/>
        </p:nvSpPr>
        <p:spPr>
          <a:xfrm>
            <a:off x="825500" y="3403600"/>
            <a:ext cx="1892300" cy="482600"/>
          </a:xfrm>
          <a:prstGeom prst="rect">
            <a:avLst/>
          </a:prstGeom>
          <a:noFill/>
          <a:ln/>
        </p:spPr>
        <p:txBody>
          <a:bodyPr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① 간판·자가 단주</a:t>
            </a:r>
          </a:p>
        </p:txBody>
      </p:sp>
      <p:sp>
        <p:nvSpPr>
          <p:cNvPr id="60" name="Ds0"/>
          <p:cNvSpPr/>
          <p:nvPr/>
        </p:nvSpPr>
        <p:spPr>
          <a:xfrm>
            <a:off x="889000" y="3911600"/>
            <a:ext cx="1765300" cy="1397000"/>
          </a:xfrm>
          <a:prstGeom prst="rect">
            <a:avLst/>
          </a:prstGeom>
          <a:noFill/>
          <a:ln/>
        </p:spPr>
        <p:txBody>
          <a:bodyPr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ko-KR" altLang="en-US" sz="1100" dirty="0">
                <a:solidFill>
                  <a:srgbClr val="293960"/>
                </a:solidFill>
                <a:latin typeface="LG Smart UI Regular"/>
                <a:ea typeface="LG Smart UI Regular"/>
              </a:rPr>
              <a:t>인허가 없는 </a:t>
            </a:r>
            <a:r>
              <a:rPr lang="ko-KR" altLang="en-US" sz="1100" dirty="0" err="1">
                <a:solidFill>
                  <a:srgbClr val="293960"/>
                </a:solidFill>
                <a:latin typeface="LG Smart UI Regular"/>
                <a:ea typeface="LG Smart UI Regular"/>
              </a:rPr>
              <a:t>웰니스로</a:t>
            </a:r>
            <a:r>
              <a:rPr lang="ko-KR" altLang="en-US" sz="1100" dirty="0">
                <a:solidFill>
                  <a:srgbClr val="293960"/>
                </a:solidFill>
                <a:latin typeface="LG Smart UI Regular"/>
                <a:ea typeface="LG Smart UI Regular"/>
              </a:rPr>
              <a:t> </a:t>
            </a:r>
            <a:endParaRPr lang="en-US" altLang="ko-KR" sz="1100" dirty="0">
              <a:solidFill>
                <a:srgbClr val="293960"/>
              </a:solidFill>
              <a:latin typeface="LG Smart UI Regular"/>
              <a:ea typeface="LG Smart UI Regular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ko-KR" altLang="en-US" sz="1100" dirty="0">
                <a:solidFill>
                  <a:srgbClr val="293960"/>
                </a:solidFill>
                <a:latin typeface="LG Smart UI Regular"/>
                <a:ea typeface="LG Smart UI Regular"/>
              </a:rPr>
              <a:t>즉시 진입 — 합리적 구독가로 직접 매출</a:t>
            </a:r>
          </a:p>
        </p:txBody>
      </p:sp>
      <p:sp>
        <p:nvSpPr>
          <p:cNvPr id="31" name="Card1"/>
          <p:cNvSpPr/>
          <p:nvPr/>
        </p:nvSpPr>
        <p:spPr>
          <a:xfrm>
            <a:off x="2933700" y="2349500"/>
            <a:ext cx="1993900" cy="3073400"/>
          </a:xfrm>
          <a:prstGeom prst="roundRect">
            <a:avLst>
              <a:gd name="adj" fmla="val 7000"/>
            </a:avLst>
          </a:prstGeom>
          <a:solidFill>
            <a:srgbClr val="EAF3B2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41" name="Circ1"/>
          <p:cNvSpPr/>
          <p:nvPr/>
        </p:nvSpPr>
        <p:spPr>
          <a:xfrm>
            <a:off x="3613150" y="2565400"/>
            <a:ext cx="635000" cy="635000"/>
          </a:xfrm>
          <a:prstGeom prst="ellipse">
            <a:avLst/>
          </a:prstGeom>
          <a:solidFill>
            <a:srgbClr val="293960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51" name="Tt1"/>
          <p:cNvSpPr/>
          <p:nvPr/>
        </p:nvSpPr>
        <p:spPr>
          <a:xfrm>
            <a:off x="2984500" y="3403600"/>
            <a:ext cx="1892300" cy="482600"/>
          </a:xfrm>
          <a:prstGeom prst="rect">
            <a:avLst/>
          </a:prstGeom>
          <a:noFill/>
          <a:ln/>
        </p:spPr>
        <p:txBody>
          <a:bodyPr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② 적응증 확장</a:t>
            </a:r>
          </a:p>
        </p:txBody>
      </p:sp>
      <p:sp>
        <p:nvSpPr>
          <p:cNvPr id="61" name="Ds1"/>
          <p:cNvSpPr/>
          <p:nvPr/>
        </p:nvSpPr>
        <p:spPr>
          <a:xfrm>
            <a:off x="3048000" y="3911600"/>
            <a:ext cx="1765300" cy="1397000"/>
          </a:xfrm>
          <a:prstGeom prst="rect">
            <a:avLst/>
          </a:prstGeom>
          <a:noFill/>
          <a:ln/>
        </p:spPr>
        <p:txBody>
          <a:bodyPr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ko-KR" altLang="en-US" sz="1100" dirty="0">
                <a:solidFill>
                  <a:srgbClr val="293960"/>
                </a:solidFill>
                <a:latin typeface="LG Smart UI Regular"/>
                <a:ea typeface="LG Smart UI Regular"/>
              </a:rPr>
              <a:t>알코올 → 니코틴·도박 등으로 같은 CBT 엔진 재사용</a:t>
            </a:r>
          </a:p>
        </p:txBody>
      </p:sp>
      <p:sp>
        <p:nvSpPr>
          <p:cNvPr id="32" name="Card2"/>
          <p:cNvSpPr/>
          <p:nvPr/>
        </p:nvSpPr>
        <p:spPr>
          <a:xfrm>
            <a:off x="5092700" y="2349500"/>
            <a:ext cx="1993900" cy="3073400"/>
          </a:xfrm>
          <a:prstGeom prst="roundRect">
            <a:avLst>
              <a:gd name="adj" fmla="val 7000"/>
            </a:avLst>
          </a:prstGeom>
          <a:solidFill>
            <a:srgbClr val="EAF3B2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42" name="Circ2"/>
          <p:cNvSpPr/>
          <p:nvPr/>
        </p:nvSpPr>
        <p:spPr>
          <a:xfrm>
            <a:off x="5772150" y="2565400"/>
            <a:ext cx="635000" cy="635000"/>
          </a:xfrm>
          <a:prstGeom prst="ellipse">
            <a:avLst/>
          </a:prstGeom>
          <a:solidFill>
            <a:srgbClr val="293960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52" name="Tt2"/>
          <p:cNvSpPr/>
          <p:nvPr/>
        </p:nvSpPr>
        <p:spPr>
          <a:xfrm>
            <a:off x="5143500" y="3403600"/>
            <a:ext cx="1892300" cy="482600"/>
          </a:xfrm>
          <a:prstGeom prst="rect">
            <a:avLst/>
          </a:prstGeom>
          <a:noFill/>
          <a:ln/>
        </p:spPr>
        <p:txBody>
          <a:bodyPr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③ 데이터 선순환</a:t>
            </a:r>
          </a:p>
        </p:txBody>
      </p:sp>
      <p:sp>
        <p:nvSpPr>
          <p:cNvPr id="62" name="Ds2"/>
          <p:cNvSpPr/>
          <p:nvPr/>
        </p:nvSpPr>
        <p:spPr>
          <a:xfrm>
            <a:off x="5207000" y="3911600"/>
            <a:ext cx="1765300" cy="1397000"/>
          </a:xfrm>
          <a:prstGeom prst="rect">
            <a:avLst/>
          </a:prstGeom>
          <a:noFill/>
          <a:ln/>
        </p:spPr>
        <p:txBody>
          <a:bodyPr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ko-KR" altLang="en-US" sz="1100" dirty="0">
                <a:solidFill>
                  <a:srgbClr val="293960"/>
                </a:solidFill>
                <a:latin typeface="LG Smart UI Regular"/>
                <a:ea typeface="LG Smart UI Regular"/>
              </a:rPr>
              <a:t>실사용 데이터로 </a:t>
            </a:r>
            <a:endParaRPr lang="en-US" altLang="ko-KR" sz="1100" dirty="0">
              <a:solidFill>
                <a:srgbClr val="293960"/>
              </a:solidFill>
              <a:latin typeface="LG Smart UI Regular"/>
              <a:ea typeface="LG Smart UI Regular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ko-KR" altLang="en-US" sz="1100" dirty="0">
                <a:solidFill>
                  <a:srgbClr val="293960"/>
                </a:solidFill>
                <a:latin typeface="LG Smart UI Regular"/>
                <a:ea typeface="LG Smart UI Regular"/>
              </a:rPr>
              <a:t>재발 예측 모델 → 개입 정밀화</a:t>
            </a:r>
          </a:p>
        </p:txBody>
      </p:sp>
      <p:sp>
        <p:nvSpPr>
          <p:cNvPr id="33" name="Card3"/>
          <p:cNvSpPr/>
          <p:nvPr/>
        </p:nvSpPr>
        <p:spPr>
          <a:xfrm>
            <a:off x="7251700" y="2349500"/>
            <a:ext cx="1993900" cy="3073400"/>
          </a:xfrm>
          <a:prstGeom prst="roundRect">
            <a:avLst>
              <a:gd name="adj" fmla="val 7000"/>
            </a:avLst>
          </a:prstGeom>
          <a:solidFill>
            <a:srgbClr val="EAF3B2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43" name="Circ3"/>
          <p:cNvSpPr/>
          <p:nvPr/>
        </p:nvSpPr>
        <p:spPr>
          <a:xfrm>
            <a:off x="7931150" y="2565400"/>
            <a:ext cx="635000" cy="635000"/>
          </a:xfrm>
          <a:prstGeom prst="ellipse">
            <a:avLst/>
          </a:prstGeom>
          <a:solidFill>
            <a:srgbClr val="293960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53" name="Tt3"/>
          <p:cNvSpPr/>
          <p:nvPr/>
        </p:nvSpPr>
        <p:spPr>
          <a:xfrm>
            <a:off x="7302500" y="3403600"/>
            <a:ext cx="1892300" cy="482600"/>
          </a:xfrm>
          <a:prstGeom prst="rect">
            <a:avLst/>
          </a:prstGeom>
          <a:noFill/>
          <a:ln/>
        </p:spPr>
        <p:txBody>
          <a:bodyPr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④ 제도·급여</a:t>
            </a:r>
          </a:p>
        </p:txBody>
      </p:sp>
      <p:sp>
        <p:nvSpPr>
          <p:cNvPr id="63" name="Ds3"/>
          <p:cNvSpPr/>
          <p:nvPr/>
        </p:nvSpPr>
        <p:spPr>
          <a:xfrm>
            <a:off x="7366000" y="3911600"/>
            <a:ext cx="1765300" cy="1397000"/>
          </a:xfrm>
          <a:prstGeom prst="rect">
            <a:avLst/>
          </a:prstGeom>
          <a:noFill/>
          <a:ln/>
        </p:spPr>
        <p:txBody>
          <a:bodyPr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ko-KR" altLang="en-US" sz="1100" dirty="0">
                <a:solidFill>
                  <a:srgbClr val="293960"/>
                </a:solidFill>
                <a:latin typeface="LG Smart UI Regular"/>
                <a:ea typeface="LG Smart UI Regular"/>
              </a:rPr>
              <a:t>DTx 인허가 → 건강보험 급여 → 의료기관 처방 채널</a:t>
            </a:r>
          </a:p>
        </p:txBody>
      </p:sp>
      <p:sp>
        <p:nvSpPr>
          <p:cNvPr id="34" name="Card4"/>
          <p:cNvSpPr/>
          <p:nvPr/>
        </p:nvSpPr>
        <p:spPr>
          <a:xfrm>
            <a:off x="9410700" y="2349500"/>
            <a:ext cx="1993900" cy="3073400"/>
          </a:xfrm>
          <a:prstGeom prst="roundRect">
            <a:avLst>
              <a:gd name="adj" fmla="val 7000"/>
            </a:avLst>
          </a:prstGeom>
          <a:solidFill>
            <a:srgbClr val="EAF3B2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44" name="Circ4"/>
          <p:cNvSpPr/>
          <p:nvPr/>
        </p:nvSpPr>
        <p:spPr>
          <a:xfrm>
            <a:off x="10090150" y="2565400"/>
            <a:ext cx="635000" cy="635000"/>
          </a:xfrm>
          <a:prstGeom prst="ellipse">
            <a:avLst/>
          </a:prstGeom>
          <a:solidFill>
            <a:srgbClr val="293960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54" name="Tt4"/>
          <p:cNvSpPr/>
          <p:nvPr/>
        </p:nvSpPr>
        <p:spPr>
          <a:xfrm>
            <a:off x="9461500" y="3403600"/>
            <a:ext cx="1892300" cy="482600"/>
          </a:xfrm>
          <a:prstGeom prst="rect">
            <a:avLst/>
          </a:prstGeom>
          <a:noFill/>
          <a:ln/>
        </p:spPr>
        <p:txBody>
          <a:bodyPr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293960"/>
                </a:solidFill>
                <a:latin typeface="LG Smart UI Regular"/>
                <a:ea typeface="LG Smart UI Regular"/>
              </a:rPr>
              <a:t>⑤ 글로벌</a:t>
            </a:r>
          </a:p>
        </p:txBody>
      </p:sp>
      <p:sp>
        <p:nvSpPr>
          <p:cNvPr id="64" name="Ds4"/>
          <p:cNvSpPr/>
          <p:nvPr/>
        </p:nvSpPr>
        <p:spPr>
          <a:xfrm>
            <a:off x="9525000" y="3911600"/>
            <a:ext cx="1765300" cy="1397000"/>
          </a:xfrm>
          <a:prstGeom prst="rect">
            <a:avLst/>
          </a:prstGeom>
          <a:noFill/>
          <a:ln/>
        </p:spPr>
        <p:txBody>
          <a:bodyPr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ko-KR" altLang="en-US" sz="1100" dirty="0">
                <a:solidFill>
                  <a:srgbClr val="293960"/>
                </a:solidFill>
                <a:latin typeface="LG Smart UI Regular"/>
                <a:ea typeface="LG Smart UI Regular"/>
              </a:rPr>
              <a:t>한국 임상·언어로 검증 후 </a:t>
            </a:r>
            <a:endParaRPr lang="en-US" altLang="ko-KR" sz="1100" dirty="0">
              <a:solidFill>
                <a:srgbClr val="293960"/>
              </a:solidFill>
              <a:latin typeface="LG Smart UI Regular"/>
              <a:ea typeface="LG Smart UI Regular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ko-KR" altLang="en-US" sz="1100" dirty="0">
                <a:solidFill>
                  <a:srgbClr val="293960"/>
                </a:solidFill>
                <a:latin typeface="LG Smart UI Regular"/>
                <a:ea typeface="LG Smart UI Regular"/>
              </a:rPr>
              <a:t>K-</a:t>
            </a:r>
            <a:r>
              <a:rPr lang="ko-KR" altLang="en-US" sz="1100" dirty="0" err="1">
                <a:solidFill>
                  <a:srgbClr val="293960"/>
                </a:solidFill>
                <a:latin typeface="LG Smart UI Regular"/>
                <a:ea typeface="LG Smart UI Regular"/>
              </a:rPr>
              <a:t>DTx로</a:t>
            </a:r>
            <a:r>
              <a:rPr lang="ko-KR" altLang="en-US" sz="1100" dirty="0">
                <a:solidFill>
                  <a:srgbClr val="293960"/>
                </a:solidFill>
                <a:latin typeface="LG Smart UI Regular"/>
                <a:ea typeface="LG Smart UI Regular"/>
              </a:rPr>
              <a:t> 수출</a:t>
            </a:r>
          </a:p>
        </p:txBody>
      </p:sp>
      <p:sp>
        <p:nvSpPr>
          <p:cNvPr id="70" name="Ar0"/>
          <p:cNvSpPr/>
          <p:nvPr/>
        </p:nvSpPr>
        <p:spPr>
          <a:xfrm>
            <a:off x="2743200" y="2717800"/>
            <a:ext cx="203200" cy="304800"/>
          </a:xfrm>
          <a:prstGeom prst="chevron">
            <a:avLst/>
          </a:prstGeom>
          <a:solidFill>
            <a:srgbClr val="63C9CD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71" name="Ar1"/>
          <p:cNvSpPr/>
          <p:nvPr/>
        </p:nvSpPr>
        <p:spPr>
          <a:xfrm>
            <a:off x="4902200" y="2717800"/>
            <a:ext cx="203200" cy="304800"/>
          </a:xfrm>
          <a:prstGeom prst="chevron">
            <a:avLst/>
          </a:prstGeom>
          <a:solidFill>
            <a:srgbClr val="63C9CD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72" name="Ar2"/>
          <p:cNvSpPr/>
          <p:nvPr/>
        </p:nvSpPr>
        <p:spPr>
          <a:xfrm>
            <a:off x="7061200" y="2717800"/>
            <a:ext cx="203200" cy="304800"/>
          </a:xfrm>
          <a:prstGeom prst="chevron">
            <a:avLst/>
          </a:prstGeom>
          <a:solidFill>
            <a:srgbClr val="63C9CD"/>
          </a:solidFill>
          <a:ln/>
        </p:spPr>
        <p:txBody>
          <a:bodyPr rtlCol="0"/>
          <a:lstStyle/>
          <a:p>
            <a:endParaRPr/>
          </a:p>
        </p:txBody>
      </p:sp>
      <p:sp>
        <p:nvSpPr>
          <p:cNvPr id="73" name="Ar3"/>
          <p:cNvSpPr/>
          <p:nvPr/>
        </p:nvSpPr>
        <p:spPr>
          <a:xfrm>
            <a:off x="9220200" y="2717800"/>
            <a:ext cx="203200" cy="304800"/>
          </a:xfrm>
          <a:prstGeom prst="chevron">
            <a:avLst/>
          </a:prstGeom>
          <a:solidFill>
            <a:srgbClr val="63C9CD"/>
          </a:solidFill>
          <a:ln/>
        </p:spPr>
        <p:txBody>
          <a:bodyPr rtlCol="0"/>
          <a:lstStyle/>
          <a:p>
            <a:endParaRPr/>
          </a:p>
        </p:txBody>
      </p:sp>
      <p:pic>
        <p:nvPicPr>
          <p:cNvPr id="74" name="Graphic 74" descr="자가 단주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2900" y="2717800"/>
            <a:ext cx="330200" cy="330200"/>
          </a:xfrm>
          <a:prstGeom prst="rect">
            <a:avLst/>
          </a:prstGeom>
        </p:spPr>
      </p:pic>
      <p:pic>
        <p:nvPicPr>
          <p:cNvPr id="75" name="Graphic 75" descr="적응증 확장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1900" y="2717800"/>
            <a:ext cx="330200" cy="330200"/>
          </a:xfrm>
          <a:prstGeom prst="rect">
            <a:avLst/>
          </a:prstGeom>
        </p:spPr>
      </p:pic>
      <p:pic>
        <p:nvPicPr>
          <p:cNvPr id="76" name="Graphic 76" descr="데이터 선순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0900" y="2717800"/>
            <a:ext cx="330200" cy="330200"/>
          </a:xfrm>
          <a:prstGeom prst="rect">
            <a:avLst/>
          </a:prstGeom>
        </p:spPr>
      </p:pic>
      <p:pic>
        <p:nvPicPr>
          <p:cNvPr id="77" name="Graphic 77" descr="제도 급여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9900" y="2717800"/>
            <a:ext cx="330200" cy="330200"/>
          </a:xfrm>
          <a:prstGeom prst="rect">
            <a:avLst/>
          </a:prstGeom>
        </p:spPr>
      </p:pic>
      <p:pic>
        <p:nvPicPr>
          <p:cNvPr id="78" name="Graphic 78" descr="글로벌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48900" y="2717800"/>
            <a:ext cx="3302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26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939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다리꼴 18">
            <a:extLst>
              <a:ext uri="{FF2B5EF4-FFF2-40B4-BE49-F238E27FC236}">
                <a16:creationId xmlns:a16="http://schemas.microsoft.com/office/drawing/2014/main" id="{01E0CC16-C94B-7BA0-E69A-5505A725698E}"/>
              </a:ext>
            </a:extLst>
          </p:cNvPr>
          <p:cNvSpPr/>
          <p:nvPr/>
        </p:nvSpPr>
        <p:spPr>
          <a:xfrm rot="20455133" flipV="1">
            <a:off x="7217711" y="-2230506"/>
            <a:ext cx="8637677" cy="9368684"/>
          </a:xfrm>
          <a:prstGeom prst="trapezoid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2">
                <a:lumMod val="60000"/>
                <a:lumOff val="40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Shape 0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ln w="22225">
            <a:solidFill>
              <a:srgbClr val="63C9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3C9CD"/>
                </a:solidFill>
                <a:latin typeface="LG Smart UI Regular"/>
                <a:ea typeface="LG Smart UI Regular"/>
              </a:rPr>
              <a:t>CONCLUSION</a:t>
            </a:r>
            <a:endParaRPr lang="en-US" sz="1200" dirty="0">
              <a:latin typeface="LG Smart UI Regular"/>
              <a:ea typeface="LG Smart UI Regular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7FFE7"/>
                </a:solidFill>
                <a:latin typeface="LG Smart UI Regular"/>
                <a:ea typeface="LG Smart UI Regular"/>
                <a:cs typeface="Pretendard ExtraBold" pitchFamily="34" charset="-120"/>
              </a:rPr>
              <a:t>비전</a:t>
            </a:r>
            <a:endParaRPr lang="en-US" sz="5800" b="1" dirty="0">
              <a:latin typeface="LG Smart UI Regular"/>
              <a:ea typeface="LG Smart UI Regular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301898" cy="1828800"/>
          </a:xfrm>
          <a:prstGeom prst="rect">
            <a:avLst/>
          </a:prstGeom>
          <a:solidFill>
            <a:srgbClr val="EAF3B2"/>
          </a:solidFill>
          <a:ln w="28575">
            <a:solidFill>
              <a:schemeClr val="tx2">
                <a:lumMod val="60000"/>
                <a:lumOff val="40000"/>
              </a:schemeClr>
            </a:solidFill>
            <a:prstDash val="lgDashDot"/>
          </a:ln>
        </p:spPr>
      </p:sp>
      <p:sp>
        <p:nvSpPr>
          <p:cNvPr id="6" name="Text 4"/>
          <p:cNvSpPr/>
          <p:nvPr/>
        </p:nvSpPr>
        <p:spPr>
          <a:xfrm>
            <a:off x="1097280" y="2999232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문제</a:t>
            </a:r>
            <a:endParaRPr lang="en-US" sz="2000" dirty="0">
              <a:latin typeface="LG Smart UI Regular"/>
              <a:ea typeface="LG Smart UI Regular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866"/>
                </a:solidFill>
                <a:latin typeface="LG Smart UI Regular"/>
                <a:ea typeface="LG Smart UI Regular"/>
                <a:cs typeface="Pretendard" pitchFamily="34" charset="-120"/>
              </a:rPr>
              <a:t>퇴원 후 위험은 정점, 외래는 월 1-2회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866"/>
                </a:solidFill>
                <a:latin typeface="LG Smart UI Regular"/>
                <a:ea typeface="LG Smart UI Regular"/>
                <a:cs typeface="Pretendard" pitchFamily="34" charset="-120"/>
              </a:rPr>
              <a:t>— 매일의 공백</a:t>
            </a:r>
            <a:endParaRPr lang="en-US" sz="1300" dirty="0">
              <a:latin typeface="LG Smart UI Regular"/>
              <a:ea typeface="LG Smart UI Regular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44898" y="2743200"/>
            <a:ext cx="3301898" cy="1828800"/>
          </a:xfrm>
          <a:prstGeom prst="rect">
            <a:avLst/>
          </a:prstGeom>
          <a:solidFill>
            <a:srgbClr val="EAF3B2"/>
          </a:solidFill>
          <a:ln w="28575">
            <a:solidFill>
              <a:schemeClr val="tx2">
                <a:lumMod val="60000"/>
                <a:lumOff val="40000"/>
              </a:schemeClr>
            </a:solidFill>
            <a:prstDash val="lgDashDot"/>
          </a:ln>
        </p:spPr>
      </p:sp>
      <p:sp>
        <p:nvSpPr>
          <p:cNvPr id="9" name="Text 7"/>
          <p:cNvSpPr/>
          <p:nvPr/>
        </p:nvSpPr>
        <p:spPr>
          <a:xfrm>
            <a:off x="4719218" y="2999232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93960"/>
                </a:solidFill>
                <a:latin typeface="LG Smart UI Regular"/>
                <a:ea typeface="LG Smart UI Regular"/>
                <a:cs typeface="Pretendard ExtraBold" pitchFamily="34" charset="-120"/>
              </a:rPr>
              <a:t>해법</a:t>
            </a:r>
            <a:endParaRPr lang="en-US" sz="2000" dirty="0">
              <a:latin typeface="LG Smart UI Regular"/>
              <a:ea typeface="LG Smart UI Regular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19218" y="356616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866"/>
                </a:solidFill>
                <a:latin typeface="LG Smart UI Regular"/>
                <a:ea typeface="LG Smart UI Regular"/>
                <a:cs typeface="Pretendard" pitchFamily="34" charset="-120"/>
              </a:rPr>
              <a:t>CBT </a:t>
            </a:r>
            <a:r>
              <a:rPr lang="ko-KR" altLang="en-US" sz="1300" dirty="0">
                <a:solidFill>
                  <a:srgbClr val="3A4866"/>
                </a:solidFill>
                <a:latin typeface="LG Smart UI Regular"/>
                <a:ea typeface="LG Smart UI Regular"/>
                <a:cs typeface="Pretendard" pitchFamily="34" charset="-120"/>
              </a:rPr>
              <a:t>기반 </a:t>
            </a:r>
            <a:r>
              <a:rPr lang="en-US" altLang="ko-KR" sz="1300" dirty="0">
                <a:solidFill>
                  <a:srgbClr val="3A4866"/>
                </a:solidFill>
                <a:latin typeface="LG Smart UI Regular"/>
                <a:ea typeface="LG Smart UI Regular"/>
                <a:cs typeface="Pretendard" pitchFamily="34" charset="-120"/>
              </a:rPr>
              <a:t>AI</a:t>
            </a:r>
            <a:r>
              <a:rPr lang="ko-KR" altLang="en-US" sz="1300" dirty="0">
                <a:solidFill>
                  <a:srgbClr val="3A4866"/>
                </a:solidFill>
                <a:latin typeface="LG Smart UI Regular"/>
                <a:ea typeface="LG Smart UI Regular"/>
                <a:cs typeface="Pretendard" pitchFamily="34" charset="-120"/>
              </a:rPr>
              <a:t>와의 대화로 </a:t>
            </a:r>
            <a:endParaRPr lang="en-US" sz="1300" dirty="0">
              <a:solidFill>
                <a:srgbClr val="3A4866"/>
              </a:solidFill>
              <a:latin typeface="LG Smart UI Regular"/>
              <a:ea typeface="LG Smart UI Regular"/>
              <a:cs typeface="Pretendard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 err="1">
                <a:solidFill>
                  <a:srgbClr val="3A4866"/>
                </a:solidFill>
                <a:latin typeface="LG Smart UI Regular"/>
                <a:ea typeface="LG Smart UI Regular"/>
                <a:cs typeface="Pretendard" pitchFamily="34" charset="-120"/>
              </a:rPr>
              <a:t>외래</a:t>
            </a:r>
            <a:r>
              <a:rPr lang="en-US" sz="1300" dirty="0">
                <a:solidFill>
                  <a:srgbClr val="3A4866"/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3A4866"/>
                </a:solidFill>
                <a:latin typeface="LG Smart UI Regular"/>
                <a:ea typeface="LG Smart UI Regular"/>
                <a:cs typeface="Pretendard" pitchFamily="34" charset="-120"/>
              </a:rPr>
              <a:t>사이</a:t>
            </a:r>
            <a:r>
              <a:rPr lang="ko-KR" altLang="en-US" sz="1300" dirty="0">
                <a:solidFill>
                  <a:srgbClr val="3A4866"/>
                </a:solidFill>
                <a:latin typeface="LG Smart UI Regular"/>
                <a:ea typeface="LG Smart UI Regular"/>
                <a:cs typeface="Pretendard" pitchFamily="34" charset="-120"/>
              </a:rPr>
              <a:t>의 공백을 </a:t>
            </a:r>
            <a:r>
              <a:rPr lang="ko-KR" altLang="en-US" sz="1300" dirty="0" err="1">
                <a:solidFill>
                  <a:srgbClr val="3A4866"/>
                </a:solidFill>
                <a:latin typeface="LG Smart UI Regular"/>
                <a:ea typeface="LG Smart UI Regular"/>
                <a:cs typeface="Pretendard" pitchFamily="34" charset="-120"/>
              </a:rPr>
              <a:t>채워나간다</a:t>
            </a:r>
            <a:endParaRPr lang="en-US" sz="1300" dirty="0">
              <a:latin typeface="LG Smart UI Regular"/>
              <a:ea typeface="LG Smart UI Regular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105457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spc="300" dirty="0">
                <a:ln w="3175"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알코올 컷! — 진료 사이의 공백을, AI가 </a:t>
            </a:r>
            <a:r>
              <a:rPr lang="en-US" sz="2000" b="1" i="1" spc="300" dirty="0" err="1">
                <a:ln w="3175"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매일</a:t>
            </a:r>
            <a:r>
              <a:rPr lang="en-US" sz="2000" b="1" i="1" spc="300" dirty="0">
                <a:ln w="3175"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</a:t>
            </a:r>
            <a:r>
              <a:rPr lang="en-US" sz="2000" b="1" i="1" spc="300" dirty="0" err="1">
                <a:ln w="3175"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곁에서</a:t>
            </a:r>
            <a:endParaRPr lang="en-US" sz="2000" b="1" i="1" spc="300" dirty="0">
              <a:ln w="3175"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latin typeface="LG Smart UI Regular"/>
              <a:ea typeface="LG Smart UI Regular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5577840"/>
            <a:ext cx="105457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spc="300" dirty="0" err="1">
                <a:ln w="3175"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펜타스틱</a:t>
            </a:r>
            <a:r>
              <a:rPr lang="en-US" sz="1400" b="1" i="1" spc="300" dirty="0">
                <a:ln w="3175"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LG Smart UI Regular"/>
                <a:ea typeface="LG Smart UI Regular"/>
                <a:cs typeface="Pretendard" pitchFamily="34" charset="-120"/>
              </a:rPr>
              <a:t> - 유다민 · 마준성 · 박재현 · 심지수 · 최성안</a:t>
            </a:r>
            <a:endParaRPr lang="en-US" sz="1400" b="1" i="1" spc="300" dirty="0">
              <a:ln w="3175"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latin typeface="LG Smart UI Regular"/>
              <a:ea typeface="LG Smart UI Regular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457200" y="5669280"/>
            <a:ext cx="1188720" cy="1188720"/>
          </a:xfrm>
          <a:prstGeom prst="ellipse">
            <a:avLst/>
          </a:prstGeom>
          <a:solidFill>
            <a:srgbClr val="F7FFE7"/>
          </a:solidFill>
          <a:ln/>
        </p:spPr>
      </p:sp>
      <p:sp>
        <p:nvSpPr>
          <p:cNvPr id="17" name="Shape 15"/>
          <p:cNvSpPr/>
          <p:nvPr/>
        </p:nvSpPr>
        <p:spPr>
          <a:xfrm>
            <a:off x="279806" y="5669280"/>
            <a:ext cx="1188720" cy="1188720"/>
          </a:xfrm>
          <a:prstGeom prst="ellipse">
            <a:avLst/>
          </a:prstGeom>
          <a:solidFill>
            <a:srgbClr val="F7FFE7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813" y="5669280"/>
            <a:ext cx="1188720" cy="1188720"/>
          </a:xfrm>
          <a:prstGeom prst="ellipse">
            <a:avLst/>
          </a:prstGeom>
          <a:solidFill>
            <a:srgbClr val="F7FFE7"/>
          </a:solidFill>
          <a:ln/>
        </p:spPr>
      </p:sp>
      <p:sp>
        <p:nvSpPr>
          <p:cNvPr id="12" name="CardLSub">
            <a:extLst>
              <a:ext uri="{FF2B5EF4-FFF2-40B4-BE49-F238E27FC236}">
                <a16:creationId xmlns:a16="http://schemas.microsoft.com/office/drawing/2014/main" id="{13F465AE-5DCA-793C-62D2-5EE1E72AED96}"/>
              </a:ext>
            </a:extLst>
          </p:cNvPr>
          <p:cNvSpPr/>
          <p:nvPr/>
        </p:nvSpPr>
        <p:spPr>
          <a:xfrm>
            <a:off x="11294484" y="328992"/>
            <a:ext cx="2746657" cy="232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2A9298"/>
                </a:solidFill>
                <a:latin typeface="LG Smart UI Regular"/>
                <a:ea typeface="LG Smart UI Regular"/>
              </a:rPr>
              <a:t>역할 분담 </a:t>
            </a:r>
          </a:p>
        </p:txBody>
      </p:sp>
      <p:sp>
        <p:nvSpPr>
          <p:cNvPr id="13" name="CardLBul">
            <a:extLst>
              <a:ext uri="{FF2B5EF4-FFF2-40B4-BE49-F238E27FC236}">
                <a16:creationId xmlns:a16="http://schemas.microsoft.com/office/drawing/2014/main" id="{BB7E397C-0CB6-8015-CBA1-534486DDCDA3}"/>
              </a:ext>
            </a:extLst>
          </p:cNvPr>
          <p:cNvSpPr/>
          <p:nvPr/>
        </p:nvSpPr>
        <p:spPr>
          <a:xfrm>
            <a:off x="7472476" y="585318"/>
            <a:ext cx="4369787" cy="232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0000" indent="-240000" algn="r">
              <a:lnSpc>
                <a:spcPct val="135000"/>
              </a:lnSpc>
              <a:spcBef>
                <a:spcPts val="3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</a:rPr>
              <a:t>개발 2 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</a:rPr>
              <a:t>: </a:t>
            </a:r>
            <a:r>
              <a:rPr lang="ko-KR" altLang="en-US" sz="12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</a:rPr>
              <a:t>박재현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</a:rPr>
              <a:t>, </a:t>
            </a:r>
            <a:r>
              <a:rPr lang="ko-KR" altLang="en-US" sz="1200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</a:rPr>
              <a:t>마준성</a:t>
            </a:r>
            <a:endParaRPr lang="ko-KR" altLang="en-US" sz="1200" dirty="0">
              <a:solidFill>
                <a:schemeClr val="accent1">
                  <a:lumMod val="50000"/>
                </a:schemeClr>
              </a:solidFill>
              <a:latin typeface="LG Smart UI Regular"/>
              <a:ea typeface="LG Smart UI Regular"/>
            </a:endParaRPr>
          </a:p>
          <a:p>
            <a:pPr marL="240000" indent="-240000" algn="r">
              <a:lnSpc>
                <a:spcPct val="135000"/>
              </a:lnSpc>
              <a:spcBef>
                <a:spcPts val="4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</a:rPr>
              <a:t>기획 1</a:t>
            </a:r>
            <a:r>
              <a:rPr lang="ko-KR" altLang="en-US" sz="12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</a:rPr>
              <a:t> 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</a:rPr>
              <a:t>: </a:t>
            </a:r>
            <a:r>
              <a:rPr lang="ko-KR" altLang="en-US" sz="12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</a:rPr>
              <a:t>유다민</a:t>
            </a:r>
          </a:p>
          <a:p>
            <a:pPr marL="240000" indent="-240000" algn="r">
              <a:lnSpc>
                <a:spcPct val="135000"/>
              </a:lnSpc>
              <a:spcBef>
                <a:spcPts val="400"/>
              </a:spcBef>
              <a:buClr>
                <a:srgbClr val="63C9CD"/>
              </a:buClr>
              <a:buFont typeface="Arial"/>
              <a:buChar char="•"/>
            </a:pP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</a:rPr>
              <a:t>디자인 2 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</a:rPr>
              <a:t>: </a:t>
            </a:r>
            <a:r>
              <a:rPr lang="ko-KR" altLang="en-US" sz="1200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</a:rPr>
              <a:t>심지수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</a:rPr>
              <a:t>, </a:t>
            </a:r>
            <a:r>
              <a:rPr lang="ko-KR" altLang="en-US" sz="1200" dirty="0" err="1">
                <a:solidFill>
                  <a:schemeClr val="accent1">
                    <a:lumMod val="50000"/>
                  </a:schemeClr>
                </a:solidFill>
                <a:latin typeface="LG Smart UI Regular"/>
                <a:ea typeface="LG Smart UI Regular"/>
              </a:rPr>
              <a:t>최성안</a:t>
            </a:r>
            <a:endParaRPr lang="ko-KR" altLang="en-US" sz="1200" dirty="0">
              <a:solidFill>
                <a:schemeClr val="accent1">
                  <a:lumMod val="50000"/>
                </a:schemeClr>
              </a:solidFill>
              <a:latin typeface="LG Smart UI Regular"/>
              <a:ea typeface="LG Smart UI Regular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87136B7-375C-5CA9-DB40-AF12E38F3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188" y="1672758"/>
            <a:ext cx="1952639" cy="23241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D78452-9B72-485B-A531-65D8EE55DEA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458fa37-f924-4a6e-bc17-7952c1cbeac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1710</Words>
  <Application>Microsoft Office PowerPoint</Application>
  <PresentationFormat>와이드스크린</PresentationFormat>
  <Paragraphs>336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LG Smart UI Regular</vt:lpstr>
      <vt:lpstr>Pretendard</vt:lpstr>
      <vt:lpstr>Pretendard ExtraBold</vt:lpstr>
      <vt:lpstr>한컴 울주 반구대 암각화체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AUD-CBT · 알코올 컷!</dc:title>
  <dc:subject>PptxGenJS Presentation</dc:subject>
  <dc:creator>펜타스틱</dc:creator>
  <cp:lastModifiedBy>다민 유</cp:lastModifiedBy>
  <cp:revision>10</cp:revision>
  <dcterms:created xsi:type="dcterms:W3CDTF">2026-06-28T14:43:48Z</dcterms:created>
  <dcterms:modified xsi:type="dcterms:W3CDTF">2026-07-07T02:14:51Z</dcterms:modified>
</cp:coreProperties>
</file>